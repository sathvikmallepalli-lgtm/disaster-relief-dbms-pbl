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2525deaa4f4319" /><Relationship Type="http://schemas.openxmlformats.org/officeDocument/2006/relationships/extended-properties" Target="/docProps/app.xml" Id="Rb78b5738a3e1496c" /><Relationship Type="http://schemas.openxmlformats.org/officeDocument/2006/relationships/officeDocument" Target="/ppt/presentation.xml" Id="Rb74093dead35484e" /></Relationships>
</file>

<file path=ppt/presentation.xml><?xml version="1.0" encoding="utf-8"?>
<p:presentation xmlns:p="http://schemas.openxmlformats.org/presentationml/2006/main">
  <p:sldMasterIdLst>
    <p:sldMasterId xmlns:r="http://schemas.openxmlformats.org/officeDocument/2006/relationships" id="2147483648" r:id="R7f53b726776244f2"/>
  </p:sldMasterIdLst>
  <p:notesMasterIdLst>
    <p:notesMasterId xmlns:r="http://schemas.openxmlformats.org/officeDocument/2006/relationships" r:id="R47fca31cd2bd4b75"/>
  </p:notesMasterIdLst>
  <p:sldIdLst>
    <p:sldId xmlns:r="http://schemas.openxmlformats.org/officeDocument/2006/relationships" id="256" r:id="R40a6f493a5264cab"/>
    <p:sldId xmlns:r="http://schemas.openxmlformats.org/officeDocument/2006/relationships" id="257" r:id="R988400355a0d4b92"/>
    <p:sldId xmlns:r="http://schemas.openxmlformats.org/officeDocument/2006/relationships" id="258" r:id="R62e833219c934287"/>
    <p:sldId xmlns:r="http://schemas.openxmlformats.org/officeDocument/2006/relationships" id="259" r:id="R63b88de3bb8f4299"/>
    <p:sldId xmlns:r="http://schemas.openxmlformats.org/officeDocument/2006/relationships" id="260" r:id="Raa464dfafc264382"/>
    <p:sldId xmlns:r="http://schemas.openxmlformats.org/officeDocument/2006/relationships" id="261" r:id="R9551b6016cb444fa"/>
    <p:sldId xmlns:r="http://schemas.openxmlformats.org/officeDocument/2006/relationships" id="262" r:id="R4114247ee2804e0d"/>
    <p:sldId xmlns:r="http://schemas.openxmlformats.org/officeDocument/2006/relationships" id="263" r:id="R8ebfe99167594799"/>
    <p:sldId xmlns:r="http://schemas.openxmlformats.org/officeDocument/2006/relationships" id="264" r:id="R42f5c4532a3947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a4f2e2e10d24d24" /><Relationship Type="http://schemas.openxmlformats.org/officeDocument/2006/relationships/slideMaster" Target="/ppt/slideMasters/slideMaster1.xml" Id="R7f53b726776244f2" /><Relationship Type="http://schemas.openxmlformats.org/officeDocument/2006/relationships/notesMaster" Target="/ppt/notesMasters/notesMaster1.xml" Id="R47fca31cd2bd4b75" /><Relationship Type="http://schemas.openxmlformats.org/officeDocument/2006/relationships/presProps" Target="/ppt/presProps.xml" Id="R745522757d3a4563" /><Relationship Type="http://schemas.openxmlformats.org/officeDocument/2006/relationships/tableStyles" Target="/ppt/tableStyles.xml" Id="Rc820af672ead4c47" /><Relationship Type="http://schemas.openxmlformats.org/officeDocument/2006/relationships/slide" Target="/ppt/slides/slide1.xml" Id="R40a6f493a5264cab" /><Relationship Type="http://schemas.openxmlformats.org/officeDocument/2006/relationships/slide" Target="/ppt/slides/slide2.xml" Id="R988400355a0d4b92" /><Relationship Type="http://schemas.openxmlformats.org/officeDocument/2006/relationships/slide" Target="/ppt/slides/slide3.xml" Id="R62e833219c934287" /><Relationship Type="http://schemas.openxmlformats.org/officeDocument/2006/relationships/slide" Target="/ppt/slides/slide4.xml" Id="R63b88de3bb8f4299" /><Relationship Type="http://schemas.openxmlformats.org/officeDocument/2006/relationships/slide" Target="/ppt/slides/slide5.xml" Id="Raa464dfafc264382" /><Relationship Type="http://schemas.openxmlformats.org/officeDocument/2006/relationships/slide" Target="/ppt/slides/slide6.xml" Id="R9551b6016cb444fa" /><Relationship Type="http://schemas.openxmlformats.org/officeDocument/2006/relationships/slide" Target="/ppt/slides/slide7.xml" Id="R4114247ee2804e0d" /><Relationship Type="http://schemas.openxmlformats.org/officeDocument/2006/relationships/slide" Target="/ppt/slides/slide8.xml" Id="R8ebfe99167594799" /><Relationship Type="http://schemas.openxmlformats.org/officeDocument/2006/relationships/slide" Target="/ppt/slides/slide9.xml" Id="R42f5c4532a3947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fd2bc6f18eb4cf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72fdaa952146bb" /><Relationship Type="http://schemas.openxmlformats.org/officeDocument/2006/relationships/notesMaster" Target="/ppt/notesMasters/notesMaster1.xml" Id="R49ce8bd8e0134937"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ca31232d3b4571" /><Relationship Type="http://schemas.openxmlformats.org/officeDocument/2006/relationships/notesMaster" Target="/ppt/notesMasters/notesMaster1.xml" Id="R24f8a765d22542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9f58be8b964a3a" /><Relationship Type="http://schemas.openxmlformats.org/officeDocument/2006/relationships/notesMaster" Target="/ppt/notesMasters/notesMaster1.xml" Id="Rc64c4b35466d489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6cdaaec9714aca" /><Relationship Type="http://schemas.openxmlformats.org/officeDocument/2006/relationships/notesMaster" Target="/ppt/notesMasters/notesMaster1.xml" Id="Rb8451ac24bfb48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e6b0fc31194c16" /><Relationship Type="http://schemas.openxmlformats.org/officeDocument/2006/relationships/notesMaster" Target="/ppt/notesMasters/notesMaster1.xml" Id="R4b68534fff8949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b02764306d4fd5" /><Relationship Type="http://schemas.openxmlformats.org/officeDocument/2006/relationships/notesMaster" Target="/ppt/notesMasters/notesMaster1.xml" Id="Rda4585991ecb4b8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fbca2e77b54291" /><Relationship Type="http://schemas.openxmlformats.org/officeDocument/2006/relationships/notesMaster" Target="/ppt/notesMasters/notesMaster1.xml" Id="Rdf2abe832b2347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0293f69c70ab44f1" /><Relationship Type="http://schemas.openxmlformats.org/officeDocument/2006/relationships/notesMaster" Target="/ppt/notesMasters/notesMaster1.xml" Id="Rf30c610d59e745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fad8ddc20c446f" /><Relationship Type="http://schemas.openxmlformats.org/officeDocument/2006/relationships/notesMaster" Target="/ppt/notesMasters/notesMaster1.xml" Id="Rcc60d54cd88749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I am M Shreevenkat Sathvik, registration number 25WU0101168. My Project 60 is the Disaster Relief Resource and Camp Management System. I built it with a MySQL database and a small Python application for the DBMS PBL course under Dr Sahithi.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a disaster, camp registrations, item needs, donated stock, and distributions can be recorded in separate registers. That makes it hard to answer a simple question: which family still needs what? It also makes duplicate issues and stock mistakes more likely. My goal was to connect these records in one relational database so staff can see current needs and trace each issue.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 was divided into three reviews. In Review 1, I defined the problem, users, requirements and ER diagram. In Review 2, I implemented the MySQL schema, sample data, views and a command-line prototype. In Review 3, I connected the Python web application, added forms and reports, checked the rules with integration tests, and wrote the final report. All three stages are documented in GitHub.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tables are camps, families, persons, needs, relief items, warehouses, stock, donations, assignments and distributions. A camp has families, and each family can have many persons and needs. A need records the item, quantity, urgency and relief round. A distribution points to that need and to the active volunteer assignment. Primary and foreign keys preserve these relationships. I separated repeated facts into related tables to reach third normal 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useful feature is the unmet-needs queue. The remaining quantity is calculated as assessed quantity minus the total already issued. The queue shows high urgency first and uses assessment time to break ties, so staff can explain why a need appears in that position. For every issue, a transaction checks remaining need, available stock and an active assignment. If any check fails, it rolls back. Stock movements give a traceable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screenshots were captured during the verified MySQL app run. On the Overview page, the top cards summarize camps, active families, registered people and unmet item needs. The queue is ordered by urgency and assessment time. Family F-001 has a water-kit need. This page is backed by a SQL view, not a manually copied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captured demo, I selected family F-001's water-kit need, Central Relief Store and the active volunteer assignment for Riverside School Camp. I entered quantity three and submitted. The starting assessed need was five, and stock was twenty. After the transaction, remaining need was two and stock was seventeen. The history records the issue. A further issue above the remaining quantity is rejected by the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reports captured after that issue. The unmet-needs view shows F-001 required five water kits, received three, and still needs two. The warehouse stock view shows seventeen water kits. The distribution history shows the issue of three kits handled by Arun Mehta. Those reports are based on joined MySQL tables and 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database and app show how ordinary DBMS concepts solve a practical coordination problem. The final test run had eight passing MySQL integration tests, including duplicate and excess distribution checks, volunteer overlap, stock reconciliation and web form behavior. The project is a local educational demonstration with fictional data. Its main contribution is a clear, explainable needs queue and traceable stock movement using basic SQL and transactions.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80e2603b11481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9fdc46da81c4fa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aae0491645d4b1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05f9bba2a4440d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75efc0bf64b477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0f822d3ce6f4a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637C5D-1515-420D-9FDE-B612EE67A87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5E8A7DA-7F1B-481B-B0C0-24677533336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83B21F6-CF89-4A93-AF3C-71378B0A903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D3138A-EE66-4974-B2FF-28B0F099DE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65EDDE6-C9A0-4497-8810-1D19DB72304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B1D2D40-1489-46EA-B89D-ECCB88688D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4874683-ACCD-44D9-BBE7-AD4241040DF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F03B4E3-5D42-41BA-AD12-71244FF36DF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74F35B-B78A-427D-BD49-CF6BB88C18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FFE812E-74EF-4F7B-8A6B-C04CBA4B99D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1045293de34543" /><Relationship Type="http://schemas.openxmlformats.org/officeDocument/2006/relationships/slideLayout" Target="/ppt/slideLayouts/slideLayout1.xml" Id="R3e9894afc7104f70" /><Relationship Type="http://schemas.openxmlformats.org/officeDocument/2006/relationships/slideLayout" Target="/ppt/slideLayouts/slideLayout2.xml" Id="R11734a498b8d4c6a" /><Relationship Type="http://schemas.openxmlformats.org/officeDocument/2006/relationships/slideLayout" Target="/ppt/slideLayouts/slideLayout3.xml" Id="Rdff5c91ce6c64b00" /><Relationship Type="http://schemas.openxmlformats.org/officeDocument/2006/relationships/slideLayout" Target="/ppt/slideLayouts/slideLayout4.xml" Id="Rd9052094cd264ff2" /><Relationship Type="http://schemas.openxmlformats.org/officeDocument/2006/relationships/slideLayout" Target="/ppt/slideLayouts/slideLayout5.xml" Id="R927b2ef0f95043fd" /><Relationship Type="http://schemas.openxmlformats.org/officeDocument/2006/relationships/slideLayout" Target="/ppt/slideLayouts/slideLayout6.xml" Id="Rb84fbec3f8ef47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9894afc7104f70"/>
    <p:sldLayoutId xmlns:r="http://schemas.openxmlformats.org/officeDocument/2006/relationships" id="2147483650" r:id="R11734a498b8d4c6a"/>
    <p:sldLayoutId xmlns:r="http://schemas.openxmlformats.org/officeDocument/2006/relationships" id="2147483651" r:id="Rdff5c91ce6c64b00"/>
    <p:sldLayoutId xmlns:r="http://schemas.openxmlformats.org/officeDocument/2006/relationships" id="2147483652" r:id="Rd9052094cd264ff2"/>
    <p:sldLayoutId xmlns:r="http://schemas.openxmlformats.org/officeDocument/2006/relationships" id="2147483653" r:id="R927b2ef0f95043fd"/>
    <p:sldLayoutId xmlns:r="http://schemas.openxmlformats.org/officeDocument/2006/relationships" id="2147483654" r:id="Rb84fbec3f8ef47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325e36d7dab4020" /><Relationship Type="http://schemas.openxmlformats.org/officeDocument/2006/relationships/notesSlide" Target="/ppt/notesSlides/notesSlide1.xml" Id="R6df9be135f674d0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b7ab44edd0b45bc" /><Relationship Type="http://schemas.openxmlformats.org/officeDocument/2006/relationships/notesSlide" Target="/ppt/notesSlides/notesSlide2.xml" Id="Rd26919ad5ff146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b7b88aa99bb475c" /><Relationship Type="http://schemas.openxmlformats.org/officeDocument/2006/relationships/notesSlide" Target="/ppt/notesSlides/notesSlide3.xml" Id="Rf2ad7fc3a7604c8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71c2d49b7814c14" /><Relationship Type="http://schemas.openxmlformats.org/officeDocument/2006/relationships/notesSlide" Target="/ppt/notesSlides/notesSlide4.xml" Id="R507bc131d6b744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b48ffc2ca484c98" /><Relationship Type="http://schemas.openxmlformats.org/officeDocument/2006/relationships/notesSlide" Target="/ppt/notesSlides/notesSlide5.xml" Id="Raacda2a8e7d74c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6f7637c29c44c3f" /><Relationship Type="http://schemas.openxmlformats.org/officeDocument/2006/relationships/image" Target="/ppt/media/image.png" Id="R1c43784e97bd4dec" /><Relationship Type="http://schemas.openxmlformats.org/officeDocument/2006/relationships/notesSlide" Target="/ppt/notesSlides/notesSlide6.xml" Id="Rc59a32e2df65408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a54b784b132448e" /><Relationship Type="http://schemas.openxmlformats.org/officeDocument/2006/relationships/image" Target="/ppt/media/image2.png" Id="R33df8f06bf054e03" /><Relationship Type="http://schemas.openxmlformats.org/officeDocument/2006/relationships/notesSlide" Target="/ppt/notesSlides/notesSlide7.xml" Id="Rdb048f2c0ca04f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3ddffc6b1e64754" /><Relationship Type="http://schemas.openxmlformats.org/officeDocument/2006/relationships/image" Target="/ppt/media/image3.png" Id="Radc8e11211ca4145" /><Relationship Type="http://schemas.openxmlformats.org/officeDocument/2006/relationships/notesSlide" Target="/ppt/notesSlides/notesSlide8.xml" Id="R69e90543777541d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923de4b63ee4de6" /><Relationship Type="http://schemas.openxmlformats.org/officeDocument/2006/relationships/notesSlide" Target="/ppt/notesSlides/notesSlide9.xml" Id="R505209b3c70e4edb" /></Relationships>
</file>

<file path=ppt/slides/slide1.xml><?xml version="1.0" encoding="utf-8"?>
<p:sld xmlns:p="http://schemas.openxmlformats.org/presentationml/2006/main">
  <p:cSld>
    <p:bg>
      <p:bgPr>
        <a:solidFill xmlns:a="http://schemas.openxmlformats.org/drawingml/2006/main">
          <a:srgbClr val="0C203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B76F289-FE9C-49DB-AD9B-A33BD4B01AC9}"/>
              </a:ext>
            </a:extLst>
          </p:cNvPr>
          <p:cNvSpPr>
            <a:spLocks xmlns:a="http://schemas.openxmlformats.org/drawingml/2006/main" noGrp="1"/>
          </p:cNvSpPr>
          <p:nvPr/>
        </p:nvSpPr>
        <p:spPr>
          <a:xfrm xmlns:a="http://schemas.openxmlformats.org/drawingml/2006/main">
            <a:off x="685800" y="876300"/>
            <a:ext cx="590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66D6CC"/>
                </a:solidFill>
                <a:latin typeface="Arial"/>
                <a:ea typeface="Arial"/>
                <a:cs typeface="Arial"/>
              </a:defRPr>
            </a:defPPr>
          </a:lstStyle>
          <a:p xmlns:a="http://schemas.openxmlformats.org/drawingml/2006/main">
            <a:pPr algn="l">
              <a:defRPr sz="1500" b="1">
                <a:solidFill>
                  <a:srgbClr val="66D6CC"/>
                </a:solidFill>
                <a:latin typeface="Arial"/>
                <a:ea typeface="Arial"/>
                <a:cs typeface="Arial"/>
              </a:defRPr>
            </a:pPr>
            <a:r>
              <a:rPr sz="1500" b="1">
                <a:solidFill>
                  <a:srgbClr val="66D6CC"/>
                </a:solidFill>
                <a:latin typeface="Arial"/>
                <a:ea typeface="Arial"/>
                <a:cs typeface="Arial"/>
              </a:rPr>
              <a:t>DBMS PBL  ·  PROJECT 60</a:t>
            </a:r>
          </a:p>
        </p:txBody>
      </p:sp>
      <p:sp>
        <p:nvSpPr>
          <p:cNvPr id="2" name="">
            <a:extLst xmlns:a="http://schemas.openxmlformats.org/drawingml/2006/main">
              <a:ext uri="{FF2B5EF4-FFF2-40B4-BE49-F238E27FC236}">
                <a16:creationId xmlns:a16="http://schemas.microsoft.com/office/drawing/2014/main" id="{AB674788-73DE-499A-8356-3909BAEFFFFB}"/>
              </a:ext>
            </a:extLst>
          </p:cNvPr>
          <p:cNvSpPr>
            <a:spLocks xmlns:a="http://schemas.openxmlformats.org/drawingml/2006/main" noGrp="1"/>
          </p:cNvSpPr>
          <p:nvPr/>
        </p:nvSpPr>
        <p:spPr>
          <a:xfrm xmlns:a="http://schemas.openxmlformats.org/drawingml/2006/main">
            <a:off x="685800" y="1562100"/>
            <a:ext cx="10715625"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425" b="1">
                <a:solidFill>
                  <a:srgbClr val="F6FBFC"/>
                </a:solidFill>
                <a:latin typeface="Arial"/>
                <a:ea typeface="Arial"/>
                <a:cs typeface="Arial"/>
              </a:defRPr>
            </a:defPPr>
          </a:lstStyle>
          <a:p xmlns:a="http://schemas.openxmlformats.org/drawingml/2006/main">
            <a:pPr algn="l">
              <a:defRPr sz="4425" b="1">
                <a:solidFill>
                  <a:srgbClr val="F6FBFC"/>
                </a:solidFill>
                <a:latin typeface="Arial"/>
                <a:ea typeface="Arial"/>
                <a:cs typeface="Arial"/>
              </a:defRPr>
            </a:pPr>
            <a:r>
              <a:rPr sz="4425" b="1">
                <a:solidFill>
                  <a:srgbClr val="F6FBFC"/>
                </a:solidFill>
                <a:latin typeface="Arial"/>
                <a:ea typeface="Arial"/>
                <a:cs typeface="Arial"/>
              </a:rPr>
              <a:t>Disaster Relief Resource</a:t>
            </a:r>
          </a:p>
          <a:p xmlns:a="http://schemas.openxmlformats.org/drawingml/2006/main">
            <a:pPr algn="l">
              <a:defRPr sz="4425" b="1">
                <a:solidFill>
                  <a:srgbClr val="F6FBFC"/>
                </a:solidFill>
                <a:latin typeface="Arial"/>
                <a:ea typeface="Arial"/>
                <a:cs typeface="Arial"/>
              </a:defRPr>
            </a:pPr>
            <a:r>
              <a:rPr sz="4425" b="1">
                <a:solidFill>
                  <a:srgbClr val="F6FBFC"/>
                </a:solidFill>
                <a:latin typeface="Arial"/>
                <a:ea typeface="Arial"/>
                <a:cs typeface="Arial"/>
              </a:rPr>
              <a:t>and Camp Management System</a:t>
            </a:r>
          </a:p>
        </p:txBody>
      </p:sp>
      <p:sp>
        <p:nvSpPr>
          <p:cNvPr id="3" name="">
            <a:extLst xmlns:a="http://schemas.openxmlformats.org/drawingml/2006/main">
              <a:ext uri="{FF2B5EF4-FFF2-40B4-BE49-F238E27FC236}">
                <a16:creationId xmlns:a16="http://schemas.microsoft.com/office/drawing/2014/main" id="{C18A63A7-6D83-43AC-B8CD-D50BEC6C33DA}"/>
              </a:ext>
            </a:extLst>
          </p:cNvPr>
          <p:cNvSpPr>
            <a:spLocks xmlns:a="http://schemas.openxmlformats.org/drawingml/2006/main" noGrp="1"/>
          </p:cNvSpPr>
          <p:nvPr/>
        </p:nvSpPr>
        <p:spPr>
          <a:xfrm xmlns:a="http://schemas.openxmlformats.org/drawingml/2006/main">
            <a:off x="704850" y="3695700"/>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00" b="0">
                <a:solidFill>
                  <a:srgbClr val="FFD78A"/>
                </a:solidFill>
                <a:latin typeface="Arial"/>
                <a:ea typeface="Arial"/>
                <a:cs typeface="Arial"/>
              </a:defRPr>
            </a:defPPr>
          </a:lstStyle>
          <a:p xmlns:a="http://schemas.openxmlformats.org/drawingml/2006/main">
            <a:pPr algn="l">
              <a:defRPr sz="2100" b="0">
                <a:solidFill>
                  <a:srgbClr val="FFD78A"/>
                </a:solidFill>
                <a:latin typeface="Arial"/>
                <a:ea typeface="Arial"/>
                <a:cs typeface="Arial"/>
              </a:defRPr>
            </a:pPr>
            <a:r>
              <a:rPr sz="2100" b="0">
                <a:solidFill>
                  <a:srgbClr val="FFD78A"/>
                </a:solidFill>
                <a:latin typeface="Arial"/>
                <a:ea typeface="Arial"/>
                <a:cs typeface="Arial"/>
              </a:rPr>
              <a:t>MySQL database + Python application</a:t>
            </a:r>
          </a:p>
        </p:txBody>
      </p:sp>
      <p:sp>
        <p:nvSpPr>
          <p:cNvPr id="4" name="">
            <a:extLst xmlns:a="http://schemas.openxmlformats.org/drawingml/2006/main">
              <a:ext uri="{FF2B5EF4-FFF2-40B4-BE49-F238E27FC236}">
                <a16:creationId xmlns:a16="http://schemas.microsoft.com/office/drawing/2014/main" id="{03321173-4DC8-46B0-8958-966FB17F1E20}"/>
              </a:ext>
            </a:extLst>
          </p:cNvPr>
          <p:cNvSpPr>
            <a:spLocks xmlns:a="http://schemas.openxmlformats.org/drawingml/2006/main" noGrp="1"/>
          </p:cNvSpPr>
          <p:nvPr/>
        </p:nvSpPr>
        <p:spPr>
          <a:xfrm xmlns:a="http://schemas.openxmlformats.org/drawingml/2006/main">
            <a:off x="704850" y="495300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1">
                <a:solidFill>
                  <a:srgbClr val="F6FBFC"/>
                </a:solidFill>
                <a:latin typeface="Arial"/>
                <a:ea typeface="Arial"/>
                <a:cs typeface="Arial"/>
              </a:defRPr>
            </a:defPPr>
          </a:lstStyle>
          <a:p xmlns:a="http://schemas.openxmlformats.org/drawingml/2006/main">
            <a:pPr algn="l">
              <a:defRPr sz="2025" b="1">
                <a:solidFill>
                  <a:srgbClr val="F6FBFC"/>
                </a:solidFill>
                <a:latin typeface="Arial"/>
                <a:ea typeface="Arial"/>
                <a:cs typeface="Arial"/>
              </a:defRPr>
            </a:pPr>
            <a:r>
              <a:rPr sz="2025" b="1">
                <a:solidFill>
                  <a:srgbClr val="F6FBFC"/>
                </a:solidFill>
                <a:latin typeface="Arial"/>
                <a:ea typeface="Arial"/>
                <a:cs typeface="Arial"/>
              </a:rPr>
              <a:t>M SHREEVENKAT SATHVIK  ·  25WU0101168</a:t>
            </a:r>
          </a:p>
        </p:txBody>
      </p:sp>
      <p:sp>
        <p:nvSpPr>
          <p:cNvPr id="5" name="">
            <a:extLst xmlns:a="http://schemas.openxmlformats.org/drawingml/2006/main">
              <a:ext uri="{FF2B5EF4-FFF2-40B4-BE49-F238E27FC236}">
                <a16:creationId xmlns:a16="http://schemas.microsoft.com/office/drawing/2014/main" id="{5A111DE7-9A68-4FFC-AFD1-1DFC92D5B89A}"/>
              </a:ext>
            </a:extLst>
          </p:cNvPr>
          <p:cNvSpPr>
            <a:spLocks xmlns:a="http://schemas.openxmlformats.org/drawingml/2006/main" noGrp="1"/>
          </p:cNvSpPr>
          <p:nvPr/>
        </p:nvSpPr>
        <p:spPr>
          <a:xfrm xmlns:a="http://schemas.openxmlformats.org/drawingml/2006/main">
            <a:off x="704850" y="54292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C4D1D9"/>
                </a:solidFill>
                <a:latin typeface="Arial"/>
                <a:ea typeface="Arial"/>
                <a:cs typeface="Arial"/>
              </a:defRPr>
            </a:defPPr>
          </a:lstStyle>
          <a:p xmlns:a="http://schemas.openxmlformats.org/drawingml/2006/main">
            <a:pPr algn="l">
              <a:defRPr sz="1650" b="0">
                <a:solidFill>
                  <a:srgbClr val="C4D1D9"/>
                </a:solidFill>
                <a:latin typeface="Arial"/>
                <a:ea typeface="Arial"/>
                <a:cs typeface="Arial"/>
              </a:defRPr>
            </a:pPr>
            <a:r>
              <a:rPr sz="1650" b="0">
                <a:solidFill>
                  <a:srgbClr val="C4D1D9"/>
                </a:solidFill>
                <a:latin typeface="Arial"/>
                <a:ea typeface="Arial"/>
                <a:cs typeface="Arial"/>
              </a:rPr>
              <a:t>Semester III  ·  CSE Panthers  ·  Dr Sahithi</a:t>
            </a:r>
          </a:p>
        </p:txBody>
      </p:sp>
      <p:sp>
        <p:nvSpPr>
          <p:cNvPr id="6" name="">
            <a:extLst xmlns:a="http://schemas.openxmlformats.org/drawingml/2006/main">
              <a:ext uri="{FF2B5EF4-FFF2-40B4-BE49-F238E27FC236}">
                <a16:creationId xmlns:a16="http://schemas.microsoft.com/office/drawing/2014/main" id="{B98313D3-12D9-4F64-9CD4-8222CCE42D47}"/>
              </a:ext>
            </a:extLst>
          </p:cNvPr>
          <p:cNvSpPr>
            <a:spLocks xmlns:a="http://schemas.openxmlformats.org/drawingml/2006/main" noGrp="1"/>
          </p:cNvSpPr>
          <p:nvPr/>
        </p:nvSpPr>
        <p:spPr>
          <a:xfrm xmlns:a="http://schemas.openxmlformats.org/drawingml/2006/main">
            <a:off x="704850" y="5905500"/>
            <a:ext cx="10477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C4D1D9"/>
                </a:solidFill>
                <a:latin typeface="Arial"/>
                <a:ea typeface="Arial"/>
                <a:cs typeface="Arial"/>
              </a:defRPr>
            </a:defPPr>
          </a:lstStyle>
          <a:p xmlns:a="http://schemas.openxmlformats.org/drawingml/2006/main">
            <a:pPr algn="l">
              <a:defRPr sz="1425" b="0">
                <a:solidFill>
                  <a:srgbClr val="C4D1D9"/>
                </a:solidFill>
                <a:latin typeface="Arial"/>
                <a:ea typeface="Arial"/>
                <a:cs typeface="Arial"/>
              </a:defRPr>
            </a:pPr>
            <a:r>
              <a:rPr sz="1425" b="0">
                <a:solidFill>
                  <a:srgbClr val="C4D1D9"/>
                </a:solidFill>
                <a:latin typeface="Arial"/>
                <a:ea typeface="Arial"/>
                <a:cs typeface="Arial"/>
              </a:rPr>
              <a:t>25TU03MJM0  Database Management Systems</a:t>
            </a:r>
          </a:p>
        </p:txBody>
      </p:sp>
    </p:spTree>
    <p:extLst>
      <p:ext uri="{BB962C8B-B14F-4D97-AF65-F5344CB8AC3E}">
        <p14:creationId xmlns:p14="http://schemas.microsoft.com/office/powerpoint/2010/main" val="2009453325"/>
      </p:ext>
    </p:extLst>
  </p:cSld>
</p:sld>
</file>

<file path=ppt/slides/slide2.xml><?xml version="1.0" encoding="utf-8"?>
<p:sld xmlns:p="http://schemas.openxmlformats.org/presentationml/2006/main">
  <p:cSld>
    <p:bg>
      <p:bgPr>
        <a:solidFill xmlns:a="http://schemas.openxmlformats.org/drawingml/2006/main">
          <a:srgbClr val="0C203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C05B21B-AB62-4426-A224-CAD4AA15DC71}"/>
              </a:ext>
            </a:extLst>
          </p:cNvPr>
          <p:cNvSpPr>
            <a:spLocks xmlns:a="http://schemas.openxmlformats.org/drawingml/2006/main" noGrp="1"/>
          </p:cNvSpPr>
          <p:nvPr/>
        </p:nvSpPr>
        <p:spPr>
          <a:xfrm xmlns:a="http://schemas.openxmlformats.org/drawingml/2006/main">
            <a:off x="666750" y="3810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66D6CC"/>
                </a:solidFill>
                <a:latin typeface="Arial"/>
                <a:ea typeface="Arial"/>
                <a:cs typeface="Arial"/>
              </a:defRPr>
            </a:defPPr>
          </a:lstStyle>
          <a:p xmlns:a="http://schemas.openxmlformats.org/drawingml/2006/main">
            <a:pPr algn="l">
              <a:defRPr sz="1200" b="1">
                <a:solidFill>
                  <a:srgbClr val="66D6CC"/>
                </a:solidFill>
                <a:latin typeface="Arial"/>
                <a:ea typeface="Arial"/>
                <a:cs typeface="Arial"/>
              </a:defRPr>
            </a:pPr>
            <a:r>
              <a:rPr sz="1200" b="1">
                <a:solidFill>
                  <a:srgbClr val="66D6CC"/>
                </a:solidFill>
                <a:latin typeface="Arial"/>
                <a:ea typeface="Arial"/>
                <a:cs typeface="Arial"/>
              </a:rPr>
              <a:t>DBMS PBL  ·  PROJECT 60</a:t>
            </a:r>
          </a:p>
        </p:txBody>
      </p:sp>
      <p:sp>
        <p:nvSpPr>
          <p:cNvPr id="2" name="">
            <a:extLst xmlns:a="http://schemas.openxmlformats.org/drawingml/2006/main">
              <a:ext uri="{FF2B5EF4-FFF2-40B4-BE49-F238E27FC236}">
                <a16:creationId xmlns:a16="http://schemas.microsoft.com/office/drawing/2014/main" id="{164E2727-3170-4574-8BC2-F112B2F0C645}"/>
              </a:ext>
            </a:extLst>
          </p:cNvPr>
          <p:cNvSpPr>
            <a:spLocks xmlns:a="http://schemas.openxmlformats.org/drawingml/2006/main" noGrp="1"/>
          </p:cNvSpPr>
          <p:nvPr/>
        </p:nvSpPr>
        <p:spPr>
          <a:xfrm xmlns:a="http://schemas.openxmlformats.org/drawingml/2006/main">
            <a:off x="666750" y="809625"/>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375" b="1">
                <a:solidFill>
                  <a:srgbClr val="F6FBFC"/>
                </a:solidFill>
                <a:latin typeface="Arial"/>
                <a:ea typeface="Arial"/>
                <a:cs typeface="Arial"/>
              </a:defRPr>
            </a:defPPr>
          </a:lstStyle>
          <a:p xmlns:a="http://schemas.openxmlformats.org/drawingml/2006/main">
            <a:pPr algn="l">
              <a:defRPr sz="3375" b="1">
                <a:solidFill>
                  <a:srgbClr val="F6FBFC"/>
                </a:solidFill>
                <a:latin typeface="Arial"/>
                <a:ea typeface="Arial"/>
                <a:cs typeface="Arial"/>
              </a:defRPr>
            </a:pPr>
            <a:r>
              <a:rPr sz="3375" b="1">
                <a:solidFill>
                  <a:srgbClr val="F6FBFC"/>
                </a:solidFill>
                <a:latin typeface="Arial"/>
                <a:ea typeface="Arial"/>
                <a:cs typeface="Arial"/>
              </a:rPr>
              <a:t>The problem</a:t>
            </a:r>
          </a:p>
        </p:txBody>
      </p:sp>
      <p:sp>
        <p:nvSpPr>
          <p:cNvPr id="3" name="">
            <a:extLst xmlns:a="http://schemas.openxmlformats.org/drawingml/2006/main">
              <a:ext uri="{FF2B5EF4-FFF2-40B4-BE49-F238E27FC236}">
                <a16:creationId xmlns:a16="http://schemas.microsoft.com/office/drawing/2014/main" id="{07039FB1-7CD6-4CCB-8539-093435ED9E20}"/>
              </a:ext>
            </a:extLst>
          </p:cNvPr>
          <p:cNvSpPr>
            <a:spLocks xmlns:a="http://schemas.openxmlformats.org/drawingml/2006/main" noGrp="1"/>
          </p:cNvSpPr>
          <p:nvPr/>
        </p:nvSpPr>
        <p:spPr>
          <a:xfrm xmlns:a="http://schemas.openxmlformats.org/drawingml/2006/main">
            <a:off x="11049000" y="623887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75" b="0">
                <a:solidFill>
                  <a:srgbClr val="C4D1D9"/>
                </a:solidFill>
                <a:latin typeface="Arial"/>
                <a:ea typeface="Arial"/>
                <a:cs typeface="Arial"/>
              </a:defRPr>
            </a:defPPr>
          </a:lstStyle>
          <a:p xmlns:a="http://schemas.openxmlformats.org/drawingml/2006/main">
            <a:pPr algn="r">
              <a:defRPr sz="1275" b="0">
                <a:solidFill>
                  <a:srgbClr val="C4D1D9"/>
                </a:solidFill>
                <a:latin typeface="Arial"/>
                <a:ea typeface="Arial"/>
                <a:cs typeface="Arial"/>
              </a:defRPr>
            </a:pPr>
            <a:r>
              <a:rPr sz="1275" b="0">
                <a:solidFill>
                  <a:srgbClr val="C4D1D9"/>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AD2361E5-37E9-4E5E-9BB0-0A7D0561C616}"/>
              </a:ext>
            </a:extLst>
          </p:cNvPr>
          <p:cNvSpPr>
            <a:spLocks xmlns:a="http://schemas.openxmlformats.org/drawingml/2006/main" noGrp="1"/>
          </p:cNvSpPr>
          <p:nvPr/>
        </p:nvSpPr>
        <p:spPr>
          <a:xfrm xmlns:a="http://schemas.openxmlformats.org/drawingml/2006/main">
            <a:off x="714375" y="1857375"/>
            <a:ext cx="10287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300" b="1">
                <a:solidFill>
                  <a:srgbClr val="66D6CC"/>
                </a:solidFill>
                <a:latin typeface="Arial"/>
                <a:ea typeface="Arial"/>
                <a:cs typeface="Arial"/>
              </a:defRPr>
            </a:defPPr>
          </a:lstStyle>
          <a:p xmlns:a="http://schemas.openxmlformats.org/drawingml/2006/main">
            <a:pPr algn="l">
              <a:defRPr sz="3300" b="1">
                <a:solidFill>
                  <a:srgbClr val="66D6CC"/>
                </a:solidFill>
                <a:latin typeface="Arial"/>
                <a:ea typeface="Arial"/>
                <a:cs typeface="Arial"/>
              </a:defRPr>
            </a:pPr>
            <a:r>
              <a:rPr sz="3300" b="1">
                <a:solidFill>
                  <a:srgbClr val="66D6CC"/>
                </a:solidFill>
                <a:latin typeface="Arial"/>
                <a:ea typeface="Arial"/>
                <a:cs typeface="Arial"/>
              </a:rPr>
              <a:t>Which family still needs what?</a:t>
            </a:r>
          </a:p>
        </p:txBody>
      </p:sp>
      <p:sp>
        <p:nvSpPr>
          <p:cNvPr id="5" name="">
            <a:extLst xmlns:a="http://schemas.openxmlformats.org/drawingml/2006/main">
              <a:ext uri="{FF2B5EF4-FFF2-40B4-BE49-F238E27FC236}">
                <a16:creationId xmlns:a16="http://schemas.microsoft.com/office/drawing/2014/main" id="{36F7D6FD-48F5-42E5-81E4-D0D3451FBFA6}"/>
              </a:ext>
            </a:extLst>
          </p:cNvPr>
          <p:cNvSpPr>
            <a:spLocks xmlns:a="http://schemas.openxmlformats.org/drawingml/2006/main" noGrp="1"/>
          </p:cNvSpPr>
          <p:nvPr/>
        </p:nvSpPr>
        <p:spPr>
          <a:xfrm xmlns:a="http://schemas.openxmlformats.org/drawingml/2006/main">
            <a:off x="714375" y="3190875"/>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250" b="0">
                <a:solidFill>
                  <a:srgbClr val="F6FBFC"/>
                </a:solidFill>
                <a:latin typeface="Arial"/>
                <a:ea typeface="Arial"/>
                <a:cs typeface="Arial"/>
              </a:defRPr>
            </a:defPPr>
          </a:lstStyle>
          <a:p xmlns:a="http://schemas.openxmlformats.org/drawingml/2006/main">
            <a:pPr algn="l">
              <a:defRPr sz="2250" b="0">
                <a:solidFill>
                  <a:srgbClr val="F6FBFC"/>
                </a:solidFill>
                <a:latin typeface="Arial"/>
                <a:ea typeface="Arial"/>
                <a:cs typeface="Arial"/>
              </a:defRPr>
            </a:pPr>
            <a:r>
              <a:rPr sz="2250" b="0">
                <a:solidFill>
                  <a:srgbClr val="F6FBFC"/>
                </a:solidFill>
                <a:latin typeface="Arial"/>
                <a:ea typeface="Arial"/>
                <a:cs typeface="Arial"/>
              </a:rPr>
              <a:t>Separate registers hide current needs and stock.</a:t>
            </a:r>
          </a:p>
        </p:txBody>
      </p:sp>
      <p:sp>
        <p:nvSpPr>
          <p:cNvPr id="6" name="">
            <a:extLst xmlns:a="http://schemas.openxmlformats.org/drawingml/2006/main">
              <a:ext uri="{FF2B5EF4-FFF2-40B4-BE49-F238E27FC236}">
                <a16:creationId xmlns:a16="http://schemas.microsoft.com/office/drawing/2014/main" id="{C1C50765-3B9E-4CFD-BBBF-60B373D306F3}"/>
              </a:ext>
            </a:extLst>
          </p:cNvPr>
          <p:cNvSpPr>
            <a:spLocks xmlns:a="http://schemas.openxmlformats.org/drawingml/2006/main" noGrp="1"/>
          </p:cNvSpPr>
          <p:nvPr/>
        </p:nvSpPr>
        <p:spPr>
          <a:xfrm xmlns:a="http://schemas.openxmlformats.org/drawingml/2006/main">
            <a:off x="714375" y="4048125"/>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250" b="0">
                <a:solidFill>
                  <a:srgbClr val="F6FBFC"/>
                </a:solidFill>
                <a:latin typeface="Arial"/>
                <a:ea typeface="Arial"/>
                <a:cs typeface="Arial"/>
              </a:defRPr>
            </a:defPPr>
          </a:lstStyle>
          <a:p xmlns:a="http://schemas.openxmlformats.org/drawingml/2006/main">
            <a:pPr algn="l">
              <a:defRPr sz="2250" b="0">
                <a:solidFill>
                  <a:srgbClr val="F6FBFC"/>
                </a:solidFill>
                <a:latin typeface="Arial"/>
                <a:ea typeface="Arial"/>
                <a:cs typeface="Arial"/>
              </a:defRPr>
            </a:pPr>
            <a:r>
              <a:rPr sz="2250" b="0">
                <a:solidFill>
                  <a:srgbClr val="F6FBFC"/>
                </a:solidFill>
                <a:latin typeface="Arial"/>
                <a:ea typeface="Arial"/>
                <a:cs typeface="Arial"/>
              </a:rPr>
              <a:t>The system links families, assessed needs, donations and issues.</a:t>
            </a:r>
          </a:p>
        </p:txBody>
      </p:sp>
      <p:sp>
        <p:nvSpPr>
          <p:cNvPr id="7" name="">
            <a:extLst xmlns:a="http://schemas.openxmlformats.org/drawingml/2006/main">
              <a:ext uri="{FF2B5EF4-FFF2-40B4-BE49-F238E27FC236}">
                <a16:creationId xmlns:a16="http://schemas.microsoft.com/office/drawing/2014/main" id="{FCD478E9-3463-4617-858B-0737CF173C31}"/>
              </a:ext>
            </a:extLst>
          </p:cNvPr>
          <p:cNvSpPr>
            <a:spLocks xmlns:a="http://schemas.openxmlformats.org/drawingml/2006/main" noGrp="1"/>
          </p:cNvSpPr>
          <p:nvPr/>
        </p:nvSpPr>
        <p:spPr>
          <a:xfrm xmlns:a="http://schemas.openxmlformats.org/drawingml/2006/main">
            <a:off x="714375" y="5334000"/>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0">
                <a:solidFill>
                  <a:srgbClr val="C4D1D9"/>
                </a:solidFill>
                <a:latin typeface="Arial"/>
                <a:ea typeface="Arial"/>
                <a:cs typeface="Arial"/>
              </a:defRPr>
            </a:defPPr>
          </a:lstStyle>
          <a:p xmlns:a="http://schemas.openxmlformats.org/drawingml/2006/main">
            <a:pPr algn="l">
              <a:defRPr sz="1725" b="0">
                <a:solidFill>
                  <a:srgbClr val="C4D1D9"/>
                </a:solidFill>
                <a:latin typeface="Arial"/>
                <a:ea typeface="Arial"/>
                <a:cs typeface="Arial"/>
              </a:defRPr>
            </a:pPr>
            <a:r>
              <a:rPr sz="1725" b="0">
                <a:solidFill>
                  <a:srgbClr val="C4D1D9"/>
                </a:solidFill>
                <a:latin typeface="Arial"/>
                <a:ea typeface="Arial"/>
                <a:cs typeface="Arial"/>
              </a:rPr>
              <a:t>All example records in this project are fictional.</a:t>
            </a:r>
          </a:p>
        </p:txBody>
      </p:sp>
    </p:spTree>
    <p:extLst>
      <p:ext uri="{BB962C8B-B14F-4D97-AF65-F5344CB8AC3E}">
        <p14:creationId xmlns:p14="http://schemas.microsoft.com/office/powerpoint/2010/main" val="693310262"/>
      </p:ext>
    </p:extLst>
  </p:cSld>
</p:sld>
</file>

<file path=ppt/slides/slide3.xml><?xml version="1.0" encoding="utf-8"?>
<p:sld xmlns:p="http://schemas.openxmlformats.org/presentationml/2006/main">
  <p:cSld>
    <p:bg>
      <p:bgPr>
        <a:solidFill xmlns:a="http://schemas.openxmlformats.org/drawingml/2006/main">
          <a:srgbClr val="0C203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BF4AB0C-0CB7-47E7-9F82-7A9519E283E7}"/>
              </a:ext>
            </a:extLst>
          </p:cNvPr>
          <p:cNvSpPr>
            <a:spLocks xmlns:a="http://schemas.openxmlformats.org/drawingml/2006/main" noGrp="1"/>
          </p:cNvSpPr>
          <p:nvPr/>
        </p:nvSpPr>
        <p:spPr>
          <a:xfrm xmlns:a="http://schemas.openxmlformats.org/drawingml/2006/main">
            <a:off x="666750" y="3810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66D6CC"/>
                </a:solidFill>
                <a:latin typeface="Arial"/>
                <a:ea typeface="Arial"/>
                <a:cs typeface="Arial"/>
              </a:defRPr>
            </a:defPPr>
          </a:lstStyle>
          <a:p xmlns:a="http://schemas.openxmlformats.org/drawingml/2006/main">
            <a:pPr algn="l">
              <a:defRPr sz="1200" b="1">
                <a:solidFill>
                  <a:srgbClr val="66D6CC"/>
                </a:solidFill>
                <a:latin typeface="Arial"/>
                <a:ea typeface="Arial"/>
                <a:cs typeface="Arial"/>
              </a:defRPr>
            </a:pPr>
            <a:r>
              <a:rPr sz="1200" b="1">
                <a:solidFill>
                  <a:srgbClr val="66D6CC"/>
                </a:solidFill>
                <a:latin typeface="Arial"/>
                <a:ea typeface="Arial"/>
                <a:cs typeface="Arial"/>
              </a:rPr>
              <a:t>DBMS PBL  ·  PROJECT 60</a:t>
            </a:r>
          </a:p>
        </p:txBody>
      </p:sp>
      <p:sp>
        <p:nvSpPr>
          <p:cNvPr id="2" name="">
            <a:extLst xmlns:a="http://schemas.openxmlformats.org/drawingml/2006/main">
              <a:ext uri="{FF2B5EF4-FFF2-40B4-BE49-F238E27FC236}">
                <a16:creationId xmlns:a16="http://schemas.microsoft.com/office/drawing/2014/main" id="{48BA8D8D-32C4-49CC-8AA9-A6C60DD6C36C}"/>
              </a:ext>
            </a:extLst>
          </p:cNvPr>
          <p:cNvSpPr>
            <a:spLocks xmlns:a="http://schemas.openxmlformats.org/drawingml/2006/main" noGrp="1"/>
          </p:cNvSpPr>
          <p:nvPr/>
        </p:nvSpPr>
        <p:spPr>
          <a:xfrm xmlns:a="http://schemas.openxmlformats.org/drawingml/2006/main">
            <a:off x="666750" y="809625"/>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375" b="1">
                <a:solidFill>
                  <a:srgbClr val="F6FBFC"/>
                </a:solidFill>
                <a:latin typeface="Arial"/>
                <a:ea typeface="Arial"/>
                <a:cs typeface="Arial"/>
              </a:defRPr>
            </a:defPPr>
          </a:lstStyle>
          <a:p xmlns:a="http://schemas.openxmlformats.org/drawingml/2006/main">
            <a:pPr algn="l">
              <a:defRPr sz="3375" b="1">
                <a:solidFill>
                  <a:srgbClr val="F6FBFC"/>
                </a:solidFill>
                <a:latin typeface="Arial"/>
                <a:ea typeface="Arial"/>
                <a:cs typeface="Arial"/>
              </a:defRPr>
            </a:pPr>
            <a:r>
              <a:rPr sz="3375" b="1">
                <a:solidFill>
                  <a:srgbClr val="F6FBFC"/>
                </a:solidFill>
                <a:latin typeface="Arial"/>
                <a:ea typeface="Arial"/>
                <a:cs typeface="Arial"/>
              </a:rPr>
              <a:t>Three review stages</a:t>
            </a:r>
          </a:p>
        </p:txBody>
      </p:sp>
      <p:sp>
        <p:nvSpPr>
          <p:cNvPr id="3" name="">
            <a:extLst xmlns:a="http://schemas.openxmlformats.org/drawingml/2006/main">
              <a:ext uri="{FF2B5EF4-FFF2-40B4-BE49-F238E27FC236}">
                <a16:creationId xmlns:a16="http://schemas.microsoft.com/office/drawing/2014/main" id="{5BD8A3A5-181F-436B-8637-B72CF8E4DBFD}"/>
              </a:ext>
            </a:extLst>
          </p:cNvPr>
          <p:cNvSpPr>
            <a:spLocks xmlns:a="http://schemas.openxmlformats.org/drawingml/2006/main" noGrp="1"/>
          </p:cNvSpPr>
          <p:nvPr/>
        </p:nvSpPr>
        <p:spPr>
          <a:xfrm xmlns:a="http://schemas.openxmlformats.org/drawingml/2006/main">
            <a:off x="11049000" y="623887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75" b="0">
                <a:solidFill>
                  <a:srgbClr val="C4D1D9"/>
                </a:solidFill>
                <a:latin typeface="Arial"/>
                <a:ea typeface="Arial"/>
                <a:cs typeface="Arial"/>
              </a:defRPr>
            </a:defPPr>
          </a:lstStyle>
          <a:p xmlns:a="http://schemas.openxmlformats.org/drawingml/2006/main">
            <a:pPr algn="r">
              <a:defRPr sz="1275" b="0">
                <a:solidFill>
                  <a:srgbClr val="C4D1D9"/>
                </a:solidFill>
                <a:latin typeface="Arial"/>
                <a:ea typeface="Arial"/>
                <a:cs typeface="Arial"/>
              </a:defRPr>
            </a:pPr>
            <a:r>
              <a:rPr sz="1275" b="0">
                <a:solidFill>
                  <a:srgbClr val="C4D1D9"/>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D4039A20-DD39-4400-A412-C6C39754C418}"/>
              </a:ext>
            </a:extLst>
          </p:cNvPr>
          <p:cNvSpPr>
            <a:spLocks xmlns:a="http://schemas.openxmlformats.org/drawingml/2006/main" noGrp="1"/>
          </p:cNvSpPr>
          <p:nvPr/>
        </p:nvSpPr>
        <p:spPr>
          <a:xfrm xmlns:a="http://schemas.openxmlformats.org/drawingml/2006/main">
            <a:off x="742950" y="1943100"/>
            <a:ext cx="857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650" b="1">
                <a:solidFill>
                  <a:srgbClr val="66D6CC"/>
                </a:solidFill>
                <a:latin typeface="Arial"/>
                <a:ea typeface="Arial"/>
                <a:cs typeface="Arial"/>
              </a:defRPr>
            </a:defPPr>
          </a:lstStyle>
          <a:p xmlns:a="http://schemas.openxmlformats.org/drawingml/2006/main">
            <a:pPr algn="l">
              <a:defRPr sz="4650" b="1">
                <a:solidFill>
                  <a:srgbClr val="66D6CC"/>
                </a:solidFill>
                <a:latin typeface="Arial"/>
                <a:ea typeface="Arial"/>
                <a:cs typeface="Arial"/>
              </a:defRPr>
            </a:pPr>
            <a:r>
              <a:rPr sz="4650" b="1">
                <a:solidFill>
                  <a:srgbClr val="66D6CC"/>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BF91B172-5F9D-4CDC-9AC3-43C369FF5EBA}"/>
              </a:ext>
            </a:extLst>
          </p:cNvPr>
          <p:cNvSpPr>
            <a:spLocks xmlns:a="http://schemas.openxmlformats.org/drawingml/2006/main" noGrp="1"/>
          </p:cNvSpPr>
          <p:nvPr/>
        </p:nvSpPr>
        <p:spPr>
          <a:xfrm xmlns:a="http://schemas.openxmlformats.org/drawingml/2006/main">
            <a:off x="1762125" y="2000250"/>
            <a:ext cx="8382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F6FBFC"/>
                </a:solidFill>
                <a:latin typeface="Arial"/>
                <a:ea typeface="Arial"/>
                <a:cs typeface="Arial"/>
              </a:defRPr>
            </a:defPPr>
          </a:lstStyle>
          <a:p xmlns:a="http://schemas.openxmlformats.org/drawingml/2006/main">
            <a:pPr algn="l">
              <a:defRPr sz="2550" b="1">
                <a:solidFill>
                  <a:srgbClr val="F6FBFC"/>
                </a:solidFill>
                <a:latin typeface="Arial"/>
                <a:ea typeface="Arial"/>
                <a:cs typeface="Arial"/>
              </a:defRPr>
            </a:pPr>
            <a:r>
              <a:rPr sz="2550" b="1">
                <a:solidFill>
                  <a:srgbClr val="F6FBFC"/>
                </a:solidFill>
                <a:latin typeface="Arial"/>
                <a:ea typeface="Arial"/>
                <a:cs typeface="Arial"/>
              </a:rPr>
              <a:t>Design</a:t>
            </a:r>
          </a:p>
        </p:txBody>
      </p:sp>
      <p:sp>
        <p:nvSpPr>
          <p:cNvPr id="6" name="">
            <a:extLst xmlns:a="http://schemas.openxmlformats.org/drawingml/2006/main">
              <a:ext uri="{FF2B5EF4-FFF2-40B4-BE49-F238E27FC236}">
                <a16:creationId xmlns:a16="http://schemas.microsoft.com/office/drawing/2014/main" id="{F8772237-9643-459F-B367-080FDAA0DA53}"/>
              </a:ext>
            </a:extLst>
          </p:cNvPr>
          <p:cNvSpPr>
            <a:spLocks xmlns:a="http://schemas.openxmlformats.org/drawingml/2006/main" noGrp="1"/>
          </p:cNvSpPr>
          <p:nvPr/>
        </p:nvSpPr>
        <p:spPr>
          <a:xfrm xmlns:a="http://schemas.openxmlformats.org/drawingml/2006/main">
            <a:off x="1762125" y="2457450"/>
            <a:ext cx="847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75" b="0">
                <a:solidFill>
                  <a:srgbClr val="C4D1D9"/>
                </a:solidFill>
                <a:latin typeface="Arial"/>
                <a:ea typeface="Arial"/>
                <a:cs typeface="Arial"/>
              </a:defRPr>
            </a:defPPr>
          </a:lstStyle>
          <a:p xmlns:a="http://schemas.openxmlformats.org/drawingml/2006/main">
            <a:pPr algn="l">
              <a:defRPr sz="1875" b="0">
                <a:solidFill>
                  <a:srgbClr val="C4D1D9"/>
                </a:solidFill>
                <a:latin typeface="Arial"/>
                <a:ea typeface="Arial"/>
                <a:cs typeface="Arial"/>
              </a:defRPr>
            </a:pPr>
            <a:r>
              <a:rPr sz="1875" b="0">
                <a:solidFill>
                  <a:srgbClr val="C4D1D9"/>
                </a:solidFill>
                <a:latin typeface="Arial"/>
                <a:ea typeface="Arial"/>
                <a:cs typeface="Arial"/>
              </a:rPr>
              <a:t>Problem, requirements, ER diagram and table mapping</a:t>
            </a:r>
          </a:p>
        </p:txBody>
      </p:sp>
      <p:sp>
        <p:nvSpPr>
          <p:cNvPr id="7" name="">
            <a:extLst xmlns:a="http://schemas.openxmlformats.org/drawingml/2006/main">
              <a:ext uri="{FF2B5EF4-FFF2-40B4-BE49-F238E27FC236}">
                <a16:creationId xmlns:a16="http://schemas.microsoft.com/office/drawing/2014/main" id="{8665A8C4-4BA8-43B1-8A2C-D322BDEF768B}"/>
              </a:ext>
            </a:extLst>
          </p:cNvPr>
          <p:cNvSpPr>
            <a:spLocks xmlns:a="http://schemas.openxmlformats.org/drawingml/2006/main" noGrp="1"/>
          </p:cNvSpPr>
          <p:nvPr/>
        </p:nvSpPr>
        <p:spPr>
          <a:xfrm xmlns:a="http://schemas.openxmlformats.org/drawingml/2006/main">
            <a:off x="742950" y="3305175"/>
            <a:ext cx="857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650" b="1">
                <a:solidFill>
                  <a:srgbClr val="66D6CC"/>
                </a:solidFill>
                <a:latin typeface="Arial"/>
                <a:ea typeface="Arial"/>
                <a:cs typeface="Arial"/>
              </a:defRPr>
            </a:defPPr>
          </a:lstStyle>
          <a:p xmlns:a="http://schemas.openxmlformats.org/drawingml/2006/main">
            <a:pPr algn="l">
              <a:defRPr sz="4650" b="1">
                <a:solidFill>
                  <a:srgbClr val="66D6CC"/>
                </a:solidFill>
                <a:latin typeface="Arial"/>
                <a:ea typeface="Arial"/>
                <a:cs typeface="Arial"/>
              </a:defRPr>
            </a:pPr>
            <a:r>
              <a:rPr sz="4650" b="1">
                <a:solidFill>
                  <a:srgbClr val="66D6CC"/>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6BC2EBF6-75D1-4DD2-B169-2FAF6CD12C9B}"/>
              </a:ext>
            </a:extLst>
          </p:cNvPr>
          <p:cNvSpPr>
            <a:spLocks xmlns:a="http://schemas.openxmlformats.org/drawingml/2006/main" noGrp="1"/>
          </p:cNvSpPr>
          <p:nvPr/>
        </p:nvSpPr>
        <p:spPr>
          <a:xfrm xmlns:a="http://schemas.openxmlformats.org/drawingml/2006/main">
            <a:off x="1762125" y="3381375"/>
            <a:ext cx="8382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F6FBFC"/>
                </a:solidFill>
                <a:latin typeface="Arial"/>
                <a:ea typeface="Arial"/>
                <a:cs typeface="Arial"/>
              </a:defRPr>
            </a:defPPr>
          </a:lstStyle>
          <a:p xmlns:a="http://schemas.openxmlformats.org/drawingml/2006/main">
            <a:pPr algn="l">
              <a:defRPr sz="2550" b="1">
                <a:solidFill>
                  <a:srgbClr val="F6FBFC"/>
                </a:solidFill>
                <a:latin typeface="Arial"/>
                <a:ea typeface="Arial"/>
                <a:cs typeface="Arial"/>
              </a:defRPr>
            </a:pPr>
            <a:r>
              <a:rPr sz="2550" b="1">
                <a:solidFill>
                  <a:srgbClr val="F6FBFC"/>
                </a:solidFill>
                <a:latin typeface="Arial"/>
                <a:ea typeface="Arial"/>
                <a:cs typeface="Arial"/>
              </a:rPr>
              <a:t>MySQL prototype</a:t>
            </a:r>
          </a:p>
        </p:txBody>
      </p:sp>
      <p:sp>
        <p:nvSpPr>
          <p:cNvPr id="9" name="">
            <a:extLst xmlns:a="http://schemas.openxmlformats.org/drawingml/2006/main">
              <a:ext uri="{FF2B5EF4-FFF2-40B4-BE49-F238E27FC236}">
                <a16:creationId xmlns:a16="http://schemas.microsoft.com/office/drawing/2014/main" id="{3C60B736-AF2D-4B22-8E49-D10E71CA8F0F}"/>
              </a:ext>
            </a:extLst>
          </p:cNvPr>
          <p:cNvSpPr>
            <a:spLocks xmlns:a="http://schemas.openxmlformats.org/drawingml/2006/main" noGrp="1"/>
          </p:cNvSpPr>
          <p:nvPr/>
        </p:nvSpPr>
        <p:spPr>
          <a:xfrm xmlns:a="http://schemas.openxmlformats.org/drawingml/2006/main">
            <a:off x="1762125" y="3838575"/>
            <a:ext cx="847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75" b="0">
                <a:solidFill>
                  <a:srgbClr val="C4D1D9"/>
                </a:solidFill>
                <a:latin typeface="Arial"/>
                <a:ea typeface="Arial"/>
                <a:cs typeface="Arial"/>
              </a:defRPr>
            </a:defPPr>
          </a:lstStyle>
          <a:p xmlns:a="http://schemas.openxmlformats.org/drawingml/2006/main">
            <a:pPr algn="l">
              <a:defRPr sz="1875" b="0">
                <a:solidFill>
                  <a:srgbClr val="C4D1D9"/>
                </a:solidFill>
                <a:latin typeface="Arial"/>
                <a:ea typeface="Arial"/>
                <a:cs typeface="Arial"/>
              </a:defRPr>
            </a:pPr>
            <a:r>
              <a:rPr sz="1875" b="0">
                <a:solidFill>
                  <a:srgbClr val="C4D1D9"/>
                </a:solidFill>
                <a:latin typeface="Arial"/>
                <a:ea typeface="Arial"/>
                <a:cs typeface="Arial"/>
              </a:rPr>
              <a:t>Schema, constraints, sample data, views and queries</a:t>
            </a:r>
          </a:p>
        </p:txBody>
      </p:sp>
      <p:sp>
        <p:nvSpPr>
          <p:cNvPr id="10" name="">
            <a:extLst xmlns:a="http://schemas.openxmlformats.org/drawingml/2006/main">
              <a:ext uri="{FF2B5EF4-FFF2-40B4-BE49-F238E27FC236}">
                <a16:creationId xmlns:a16="http://schemas.microsoft.com/office/drawing/2014/main" id="{8A491793-781C-4F80-AAA9-2175A0DF4F93}"/>
              </a:ext>
            </a:extLst>
          </p:cNvPr>
          <p:cNvSpPr>
            <a:spLocks xmlns:a="http://schemas.openxmlformats.org/drawingml/2006/main" noGrp="1"/>
          </p:cNvSpPr>
          <p:nvPr/>
        </p:nvSpPr>
        <p:spPr>
          <a:xfrm xmlns:a="http://schemas.openxmlformats.org/drawingml/2006/main">
            <a:off x="742950" y="4667250"/>
            <a:ext cx="857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650" b="1">
                <a:solidFill>
                  <a:srgbClr val="66D6CC"/>
                </a:solidFill>
                <a:latin typeface="Arial"/>
                <a:ea typeface="Arial"/>
                <a:cs typeface="Arial"/>
              </a:defRPr>
            </a:defPPr>
          </a:lstStyle>
          <a:p xmlns:a="http://schemas.openxmlformats.org/drawingml/2006/main">
            <a:pPr algn="l">
              <a:defRPr sz="4650" b="1">
                <a:solidFill>
                  <a:srgbClr val="66D6CC"/>
                </a:solidFill>
                <a:latin typeface="Arial"/>
                <a:ea typeface="Arial"/>
                <a:cs typeface="Arial"/>
              </a:defRPr>
            </a:pPr>
            <a:r>
              <a:rPr sz="4650" b="1">
                <a:solidFill>
                  <a:srgbClr val="66D6CC"/>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DAD06274-6552-4CBA-9CF2-0898297FF404}"/>
              </a:ext>
            </a:extLst>
          </p:cNvPr>
          <p:cNvSpPr>
            <a:spLocks xmlns:a="http://schemas.openxmlformats.org/drawingml/2006/main" noGrp="1"/>
          </p:cNvSpPr>
          <p:nvPr/>
        </p:nvSpPr>
        <p:spPr>
          <a:xfrm xmlns:a="http://schemas.openxmlformats.org/drawingml/2006/main">
            <a:off x="1762125" y="4743450"/>
            <a:ext cx="8382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F6FBFC"/>
                </a:solidFill>
                <a:latin typeface="Arial"/>
                <a:ea typeface="Arial"/>
                <a:cs typeface="Arial"/>
              </a:defRPr>
            </a:defPPr>
          </a:lstStyle>
          <a:p xmlns:a="http://schemas.openxmlformats.org/drawingml/2006/main">
            <a:pPr algn="l">
              <a:defRPr sz="2550" b="1">
                <a:solidFill>
                  <a:srgbClr val="F6FBFC"/>
                </a:solidFill>
                <a:latin typeface="Arial"/>
                <a:ea typeface="Arial"/>
                <a:cs typeface="Arial"/>
              </a:defRPr>
            </a:pPr>
            <a:r>
              <a:rPr sz="2550" b="1">
                <a:solidFill>
                  <a:srgbClr val="F6FBFC"/>
                </a:solidFill>
                <a:latin typeface="Arial"/>
                <a:ea typeface="Arial"/>
                <a:cs typeface="Arial"/>
              </a:rPr>
              <a:t>Python application</a:t>
            </a:r>
          </a:p>
        </p:txBody>
      </p:sp>
      <p:sp>
        <p:nvSpPr>
          <p:cNvPr id="12" name="">
            <a:extLst xmlns:a="http://schemas.openxmlformats.org/drawingml/2006/main">
              <a:ext uri="{FF2B5EF4-FFF2-40B4-BE49-F238E27FC236}">
                <a16:creationId xmlns:a16="http://schemas.microsoft.com/office/drawing/2014/main" id="{BB801192-009B-4508-B1FB-7BA786B716B4}"/>
              </a:ext>
            </a:extLst>
          </p:cNvPr>
          <p:cNvSpPr>
            <a:spLocks xmlns:a="http://schemas.openxmlformats.org/drawingml/2006/main" noGrp="1"/>
          </p:cNvSpPr>
          <p:nvPr/>
        </p:nvSpPr>
        <p:spPr>
          <a:xfrm xmlns:a="http://schemas.openxmlformats.org/drawingml/2006/main">
            <a:off x="1762125" y="5200650"/>
            <a:ext cx="847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75" b="0">
                <a:solidFill>
                  <a:srgbClr val="C4D1D9"/>
                </a:solidFill>
                <a:latin typeface="Arial"/>
                <a:ea typeface="Arial"/>
                <a:cs typeface="Arial"/>
              </a:defRPr>
            </a:defPPr>
          </a:lstStyle>
          <a:p xmlns:a="http://schemas.openxmlformats.org/drawingml/2006/main">
            <a:pPr algn="l">
              <a:defRPr sz="1875" b="0">
                <a:solidFill>
                  <a:srgbClr val="C4D1D9"/>
                </a:solidFill>
                <a:latin typeface="Arial"/>
                <a:ea typeface="Arial"/>
                <a:cs typeface="Arial"/>
              </a:defRPr>
            </a:pPr>
            <a:r>
              <a:rPr sz="1875" b="0">
                <a:solidFill>
                  <a:srgbClr val="C4D1D9"/>
                </a:solidFill>
                <a:latin typeface="Arial"/>
                <a:ea typeface="Arial"/>
                <a:cs typeface="Arial"/>
              </a:rPr>
              <a:t>Forms, reports, validation, tests and final report</a:t>
            </a:r>
          </a:p>
        </p:txBody>
      </p:sp>
    </p:spTree>
    <p:extLst>
      <p:ext uri="{BB962C8B-B14F-4D97-AF65-F5344CB8AC3E}">
        <p14:creationId xmlns:p14="http://schemas.microsoft.com/office/powerpoint/2010/main" val="1236111917"/>
      </p:ext>
    </p:extLst>
  </p:cSld>
</p:sld>
</file>

<file path=ppt/slides/slide4.xml><?xml version="1.0" encoding="utf-8"?>
<p:sld xmlns:p="http://schemas.openxmlformats.org/presentationml/2006/main">
  <p:cSld>
    <p:bg>
      <p:bgPr>
        <a:solidFill xmlns:a="http://schemas.openxmlformats.org/drawingml/2006/main">
          <a:srgbClr val="0C203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6E42938-95A9-475E-9098-49DFB60DE7E5}"/>
              </a:ext>
            </a:extLst>
          </p:cNvPr>
          <p:cNvSpPr>
            <a:spLocks xmlns:a="http://schemas.openxmlformats.org/drawingml/2006/main" noGrp="1"/>
          </p:cNvSpPr>
          <p:nvPr/>
        </p:nvSpPr>
        <p:spPr>
          <a:xfrm xmlns:a="http://schemas.openxmlformats.org/drawingml/2006/main">
            <a:off x="666750" y="3810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66D6CC"/>
                </a:solidFill>
                <a:latin typeface="Arial"/>
                <a:ea typeface="Arial"/>
                <a:cs typeface="Arial"/>
              </a:defRPr>
            </a:defPPr>
          </a:lstStyle>
          <a:p xmlns:a="http://schemas.openxmlformats.org/drawingml/2006/main">
            <a:pPr algn="l">
              <a:defRPr sz="1200" b="1">
                <a:solidFill>
                  <a:srgbClr val="66D6CC"/>
                </a:solidFill>
                <a:latin typeface="Arial"/>
                <a:ea typeface="Arial"/>
                <a:cs typeface="Arial"/>
              </a:defRPr>
            </a:pPr>
            <a:r>
              <a:rPr sz="1200" b="1">
                <a:solidFill>
                  <a:srgbClr val="66D6CC"/>
                </a:solidFill>
                <a:latin typeface="Arial"/>
                <a:ea typeface="Arial"/>
                <a:cs typeface="Arial"/>
              </a:rPr>
              <a:t>DBMS PBL  ·  PROJECT 60</a:t>
            </a:r>
          </a:p>
        </p:txBody>
      </p:sp>
      <p:sp>
        <p:nvSpPr>
          <p:cNvPr id="2" name="">
            <a:extLst xmlns:a="http://schemas.openxmlformats.org/drawingml/2006/main">
              <a:ext uri="{FF2B5EF4-FFF2-40B4-BE49-F238E27FC236}">
                <a16:creationId xmlns:a16="http://schemas.microsoft.com/office/drawing/2014/main" id="{DDC5B37F-B87A-4C85-843C-6431605BCC8E}"/>
              </a:ext>
            </a:extLst>
          </p:cNvPr>
          <p:cNvSpPr>
            <a:spLocks xmlns:a="http://schemas.openxmlformats.org/drawingml/2006/main" noGrp="1"/>
          </p:cNvSpPr>
          <p:nvPr/>
        </p:nvSpPr>
        <p:spPr>
          <a:xfrm xmlns:a="http://schemas.openxmlformats.org/drawingml/2006/main">
            <a:off x="666750" y="809625"/>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375" b="1">
                <a:solidFill>
                  <a:srgbClr val="F6FBFC"/>
                </a:solidFill>
                <a:latin typeface="Arial"/>
                <a:ea typeface="Arial"/>
                <a:cs typeface="Arial"/>
              </a:defRPr>
            </a:defPPr>
          </a:lstStyle>
          <a:p xmlns:a="http://schemas.openxmlformats.org/drawingml/2006/main">
            <a:pPr algn="l">
              <a:defRPr sz="3375" b="1">
                <a:solidFill>
                  <a:srgbClr val="F6FBFC"/>
                </a:solidFill>
                <a:latin typeface="Arial"/>
                <a:ea typeface="Arial"/>
                <a:cs typeface="Arial"/>
              </a:defRPr>
            </a:pPr>
            <a:r>
              <a:rPr sz="3375" b="1">
                <a:solidFill>
                  <a:srgbClr val="F6FBFC"/>
                </a:solidFill>
                <a:latin typeface="Arial"/>
                <a:ea typeface="Arial"/>
                <a:cs typeface="Arial"/>
              </a:rPr>
              <a:t>How the database is organized</a:t>
            </a:r>
          </a:p>
        </p:txBody>
      </p:sp>
      <p:sp>
        <p:nvSpPr>
          <p:cNvPr id="3" name="">
            <a:extLst xmlns:a="http://schemas.openxmlformats.org/drawingml/2006/main">
              <a:ext uri="{FF2B5EF4-FFF2-40B4-BE49-F238E27FC236}">
                <a16:creationId xmlns:a16="http://schemas.microsoft.com/office/drawing/2014/main" id="{532B8B5F-67B1-4868-8FC9-35501A7793EB}"/>
              </a:ext>
            </a:extLst>
          </p:cNvPr>
          <p:cNvSpPr>
            <a:spLocks xmlns:a="http://schemas.openxmlformats.org/drawingml/2006/main" noGrp="1"/>
          </p:cNvSpPr>
          <p:nvPr/>
        </p:nvSpPr>
        <p:spPr>
          <a:xfrm xmlns:a="http://schemas.openxmlformats.org/drawingml/2006/main">
            <a:off x="11049000" y="623887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75" b="0">
                <a:solidFill>
                  <a:srgbClr val="C4D1D9"/>
                </a:solidFill>
                <a:latin typeface="Arial"/>
                <a:ea typeface="Arial"/>
                <a:cs typeface="Arial"/>
              </a:defRPr>
            </a:defPPr>
          </a:lstStyle>
          <a:p xmlns:a="http://schemas.openxmlformats.org/drawingml/2006/main">
            <a:pPr algn="r">
              <a:defRPr sz="1275" b="0">
                <a:solidFill>
                  <a:srgbClr val="C4D1D9"/>
                </a:solidFill>
                <a:latin typeface="Arial"/>
                <a:ea typeface="Arial"/>
                <a:cs typeface="Arial"/>
              </a:defRPr>
            </a:pPr>
            <a:r>
              <a:rPr sz="1275" b="0">
                <a:solidFill>
                  <a:srgbClr val="C4D1D9"/>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62EF63A8-081E-44B1-9539-3AF899A9023F}"/>
              </a:ext>
            </a:extLst>
          </p:cNvPr>
          <p:cNvSpPr>
            <a:spLocks xmlns:a="http://schemas.openxmlformats.org/drawingml/2006/main" noGrp="1"/>
          </p:cNvSpPr>
          <p:nvPr/>
        </p:nvSpPr>
        <p:spPr>
          <a:xfrm xmlns:a="http://schemas.openxmlformats.org/drawingml/2006/main">
            <a:off x="714375" y="1981200"/>
            <a:ext cx="2238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400" b="1">
                <a:solidFill>
                  <a:srgbClr val="66D6CC"/>
                </a:solidFill>
                <a:latin typeface="Arial"/>
                <a:ea typeface="Arial"/>
                <a:cs typeface="Arial"/>
              </a:defRPr>
            </a:defPPr>
          </a:lstStyle>
          <a:p xmlns:a="http://schemas.openxmlformats.org/drawingml/2006/main">
            <a:pPr algn="l">
              <a:defRPr sz="2400" b="1">
                <a:solidFill>
                  <a:srgbClr val="66D6CC"/>
                </a:solidFill>
                <a:latin typeface="Arial"/>
                <a:ea typeface="Arial"/>
                <a:cs typeface="Arial"/>
              </a:defRPr>
            </a:pPr>
            <a:r>
              <a:rPr sz="2400" b="1">
                <a:solidFill>
                  <a:srgbClr val="66D6CC"/>
                </a:solidFill>
                <a:latin typeface="Arial"/>
                <a:ea typeface="Arial"/>
                <a:cs typeface="Arial"/>
              </a:rPr>
              <a:t>Camp</a:t>
            </a:r>
          </a:p>
        </p:txBody>
      </p:sp>
      <p:sp>
        <p:nvSpPr>
          <p:cNvPr id="5" name="">
            <a:extLst xmlns:a="http://schemas.openxmlformats.org/drawingml/2006/main">
              <a:ext uri="{FF2B5EF4-FFF2-40B4-BE49-F238E27FC236}">
                <a16:creationId xmlns:a16="http://schemas.microsoft.com/office/drawing/2014/main" id="{83ACA2AC-25C0-42C7-A157-C9A4594ED9F0}"/>
              </a:ext>
            </a:extLst>
          </p:cNvPr>
          <p:cNvSpPr>
            <a:spLocks xmlns:a="http://schemas.openxmlformats.org/drawingml/2006/main" noGrp="1"/>
          </p:cNvSpPr>
          <p:nvPr/>
        </p:nvSpPr>
        <p:spPr>
          <a:xfrm xmlns:a="http://schemas.openxmlformats.org/drawingml/2006/main">
            <a:off x="3476625" y="1981200"/>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400" b="1">
                <a:solidFill>
                  <a:srgbClr val="66D6CC"/>
                </a:solidFill>
                <a:latin typeface="Arial"/>
                <a:ea typeface="Arial"/>
                <a:cs typeface="Arial"/>
              </a:defRPr>
            </a:defPPr>
          </a:lstStyle>
          <a:p xmlns:a="http://schemas.openxmlformats.org/drawingml/2006/main">
            <a:pPr algn="l">
              <a:defRPr sz="2400" b="1">
                <a:solidFill>
                  <a:srgbClr val="66D6CC"/>
                </a:solidFill>
                <a:latin typeface="Arial"/>
                <a:ea typeface="Arial"/>
                <a:cs typeface="Arial"/>
              </a:defRPr>
            </a:pPr>
            <a:r>
              <a:rPr sz="2400" b="1">
                <a:solidFill>
                  <a:srgbClr val="66D6CC"/>
                </a:solidFill>
                <a:latin typeface="Arial"/>
                <a:ea typeface="Arial"/>
                <a:cs typeface="Arial"/>
              </a:rPr>
              <a:t>Family</a:t>
            </a:r>
          </a:p>
        </p:txBody>
      </p:sp>
      <p:sp>
        <p:nvSpPr>
          <p:cNvPr id="6" name="">
            <a:extLst xmlns:a="http://schemas.openxmlformats.org/drawingml/2006/main">
              <a:ext uri="{FF2B5EF4-FFF2-40B4-BE49-F238E27FC236}">
                <a16:creationId xmlns:a16="http://schemas.microsoft.com/office/drawing/2014/main" id="{8D86483F-FC94-4324-8810-86956CBCD7DE}"/>
              </a:ext>
            </a:extLst>
          </p:cNvPr>
          <p:cNvSpPr>
            <a:spLocks xmlns:a="http://schemas.openxmlformats.org/drawingml/2006/main" noGrp="1"/>
          </p:cNvSpPr>
          <p:nvPr/>
        </p:nvSpPr>
        <p:spPr>
          <a:xfrm xmlns:a="http://schemas.openxmlformats.org/drawingml/2006/main">
            <a:off x="6715125" y="1981200"/>
            <a:ext cx="3905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400" b="1">
                <a:solidFill>
                  <a:srgbClr val="66D6CC"/>
                </a:solidFill>
                <a:latin typeface="Arial"/>
                <a:ea typeface="Arial"/>
                <a:cs typeface="Arial"/>
              </a:defRPr>
            </a:defPPr>
          </a:lstStyle>
          <a:p xmlns:a="http://schemas.openxmlformats.org/drawingml/2006/main">
            <a:pPr algn="l">
              <a:defRPr sz="2400" b="1">
                <a:solidFill>
                  <a:srgbClr val="66D6CC"/>
                </a:solidFill>
                <a:latin typeface="Arial"/>
                <a:ea typeface="Arial"/>
                <a:cs typeface="Arial"/>
              </a:defRPr>
            </a:pPr>
            <a:r>
              <a:rPr sz="2400" b="1">
                <a:solidFill>
                  <a:srgbClr val="66D6CC"/>
                </a:solidFill>
                <a:latin typeface="Arial"/>
                <a:ea typeface="Arial"/>
                <a:cs typeface="Arial"/>
              </a:rPr>
              <a:t>Person / Need</a:t>
            </a:r>
          </a:p>
        </p:txBody>
      </p:sp>
      <p:sp>
        <p:nvSpPr>
          <p:cNvPr id="7" name="">
            <a:extLst xmlns:a="http://schemas.openxmlformats.org/drawingml/2006/main">
              <a:ext uri="{FF2B5EF4-FFF2-40B4-BE49-F238E27FC236}">
                <a16:creationId xmlns:a16="http://schemas.microsoft.com/office/drawing/2014/main" id="{689391C7-4144-4DBC-B509-CDCC7BD25F4F}"/>
              </a:ext>
            </a:extLst>
          </p:cNvPr>
          <p:cNvSpPr>
            <a:spLocks xmlns:a="http://schemas.openxmlformats.org/drawingml/2006/main" noGrp="1"/>
          </p:cNvSpPr>
          <p:nvPr/>
        </p:nvSpPr>
        <p:spPr>
          <a:xfrm xmlns:a="http://schemas.openxmlformats.org/drawingml/2006/main">
            <a:off x="714375" y="2695575"/>
            <a:ext cx="1038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00" b="0">
                <a:solidFill>
                  <a:srgbClr val="F6FBFC"/>
                </a:solidFill>
                <a:latin typeface="Arial"/>
                <a:ea typeface="Arial"/>
                <a:cs typeface="Arial"/>
              </a:defRPr>
            </a:defPPr>
          </a:lstStyle>
          <a:p xmlns:a="http://schemas.openxmlformats.org/drawingml/2006/main">
            <a:pPr algn="l">
              <a:defRPr sz="2100" b="0">
                <a:solidFill>
                  <a:srgbClr val="F6FBFC"/>
                </a:solidFill>
                <a:latin typeface="Arial"/>
                <a:ea typeface="Arial"/>
                <a:cs typeface="Arial"/>
              </a:defRPr>
            </a:pPr>
            <a:r>
              <a:rPr sz="2100" b="0">
                <a:solidFill>
                  <a:srgbClr val="F6FBFC"/>
                </a:solidFill>
                <a:latin typeface="Arial"/>
                <a:ea typeface="Arial"/>
                <a:cs typeface="Arial"/>
              </a:rPr>
              <a:t>One camp has many families. One family has many people and needs.</a:t>
            </a:r>
          </a:p>
        </p:txBody>
      </p:sp>
      <p:sp>
        <p:nvSpPr>
          <p:cNvPr id="8" name="">
            <a:extLst xmlns:a="http://schemas.openxmlformats.org/drawingml/2006/main">
              <a:ext uri="{FF2B5EF4-FFF2-40B4-BE49-F238E27FC236}">
                <a16:creationId xmlns:a16="http://schemas.microsoft.com/office/drawing/2014/main" id="{D9B8445A-2A46-4E4F-9E2F-9C361CBDA2A7}"/>
              </a:ext>
            </a:extLst>
          </p:cNvPr>
          <p:cNvSpPr>
            <a:spLocks xmlns:a="http://schemas.openxmlformats.org/drawingml/2006/main" noGrp="1"/>
          </p:cNvSpPr>
          <p:nvPr/>
        </p:nvSpPr>
        <p:spPr>
          <a:xfrm xmlns:a="http://schemas.openxmlformats.org/drawingml/2006/main">
            <a:off x="714375" y="3733800"/>
            <a:ext cx="10382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00" b="0">
                <a:solidFill>
                  <a:srgbClr val="F6FBFC"/>
                </a:solidFill>
                <a:latin typeface="Arial"/>
                <a:ea typeface="Arial"/>
                <a:cs typeface="Arial"/>
              </a:defRPr>
            </a:defPPr>
          </a:lstStyle>
          <a:p xmlns:a="http://schemas.openxmlformats.org/drawingml/2006/main">
            <a:pPr algn="l">
              <a:defRPr sz="2100" b="0">
                <a:solidFill>
                  <a:srgbClr val="F6FBFC"/>
                </a:solidFill>
                <a:latin typeface="Arial"/>
                <a:ea typeface="Arial"/>
                <a:cs typeface="Arial"/>
              </a:defRPr>
            </a:pPr>
            <a:r>
              <a:rPr sz="2100" b="0">
                <a:solidFill>
                  <a:srgbClr val="F6FBFC"/>
                </a:solidFill>
                <a:latin typeface="Arial"/>
                <a:ea typeface="Arial"/>
                <a:cs typeface="Arial"/>
              </a:rPr>
              <a:t>A distribution fulfills one assessed need and records who handled it.</a:t>
            </a:r>
          </a:p>
        </p:txBody>
      </p:sp>
      <p:sp>
        <p:nvSpPr>
          <p:cNvPr id="9" name="">
            <a:extLst xmlns:a="http://schemas.openxmlformats.org/drawingml/2006/main">
              <a:ext uri="{FF2B5EF4-FFF2-40B4-BE49-F238E27FC236}">
                <a16:creationId xmlns:a16="http://schemas.microsoft.com/office/drawing/2014/main" id="{88292B3D-74E0-4E55-95B7-704DEC5C830D}"/>
              </a:ext>
            </a:extLst>
          </p:cNvPr>
          <p:cNvSpPr>
            <a:spLocks xmlns:a="http://schemas.openxmlformats.org/drawingml/2006/main" noGrp="1"/>
          </p:cNvSpPr>
          <p:nvPr/>
        </p:nvSpPr>
        <p:spPr>
          <a:xfrm xmlns:a="http://schemas.openxmlformats.org/drawingml/2006/main">
            <a:off x="714375" y="52197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75" b="1">
                <a:solidFill>
                  <a:srgbClr val="FFD78A"/>
                </a:solidFill>
                <a:latin typeface="Arial"/>
                <a:ea typeface="Arial"/>
                <a:cs typeface="Arial"/>
              </a:defRPr>
            </a:defPPr>
          </a:lstStyle>
          <a:p xmlns:a="http://schemas.openxmlformats.org/drawingml/2006/main">
            <a:pPr algn="l">
              <a:defRPr sz="2175" b="1">
                <a:solidFill>
                  <a:srgbClr val="FFD78A"/>
                </a:solidFill>
                <a:latin typeface="Arial"/>
                <a:ea typeface="Arial"/>
                <a:cs typeface="Arial"/>
              </a:defRPr>
            </a:pPr>
            <a:r>
              <a:rPr sz="2175" b="1">
                <a:solidFill>
                  <a:srgbClr val="FFD78A"/>
                </a:solidFill>
                <a:latin typeface="Arial"/>
                <a:ea typeface="Arial"/>
                <a:cs typeface="Arial"/>
              </a:rPr>
              <a:t>PK + FK + UNIQUE + CHECK support data integrity.</a:t>
            </a:r>
          </a:p>
        </p:txBody>
      </p:sp>
    </p:spTree>
    <p:extLst>
      <p:ext uri="{BB962C8B-B14F-4D97-AF65-F5344CB8AC3E}">
        <p14:creationId xmlns:p14="http://schemas.microsoft.com/office/powerpoint/2010/main" val="1375173217"/>
      </p:ext>
    </p:extLst>
  </p:cSld>
</p:sld>
</file>

<file path=ppt/slides/slide5.xml><?xml version="1.0" encoding="utf-8"?>
<p:sld xmlns:p="http://schemas.openxmlformats.org/presentationml/2006/main">
  <p:cSld>
    <p:bg>
      <p:bgPr>
        <a:solidFill xmlns:a="http://schemas.openxmlformats.org/drawingml/2006/main">
          <a:srgbClr val="0C203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EFB54EA-698B-4476-878A-EF46597C0A64}"/>
              </a:ext>
            </a:extLst>
          </p:cNvPr>
          <p:cNvSpPr>
            <a:spLocks xmlns:a="http://schemas.openxmlformats.org/drawingml/2006/main" noGrp="1"/>
          </p:cNvSpPr>
          <p:nvPr/>
        </p:nvSpPr>
        <p:spPr>
          <a:xfrm xmlns:a="http://schemas.openxmlformats.org/drawingml/2006/main">
            <a:off x="666750" y="3810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66D6CC"/>
                </a:solidFill>
                <a:latin typeface="Arial"/>
                <a:ea typeface="Arial"/>
                <a:cs typeface="Arial"/>
              </a:defRPr>
            </a:defPPr>
          </a:lstStyle>
          <a:p xmlns:a="http://schemas.openxmlformats.org/drawingml/2006/main">
            <a:pPr algn="l">
              <a:defRPr sz="1200" b="1">
                <a:solidFill>
                  <a:srgbClr val="66D6CC"/>
                </a:solidFill>
                <a:latin typeface="Arial"/>
                <a:ea typeface="Arial"/>
                <a:cs typeface="Arial"/>
              </a:defRPr>
            </a:pPr>
            <a:r>
              <a:rPr sz="1200" b="1">
                <a:solidFill>
                  <a:srgbClr val="66D6CC"/>
                </a:solidFill>
                <a:latin typeface="Arial"/>
                <a:ea typeface="Arial"/>
                <a:cs typeface="Arial"/>
              </a:rPr>
              <a:t>DBMS PBL  ·  PROJECT 60</a:t>
            </a:r>
          </a:p>
        </p:txBody>
      </p:sp>
      <p:sp>
        <p:nvSpPr>
          <p:cNvPr id="2" name="">
            <a:extLst xmlns:a="http://schemas.openxmlformats.org/drawingml/2006/main">
              <a:ext uri="{FF2B5EF4-FFF2-40B4-BE49-F238E27FC236}">
                <a16:creationId xmlns:a16="http://schemas.microsoft.com/office/drawing/2014/main" id="{ABCE3CFB-33D5-45B2-8EA8-9E31F9A4FE43}"/>
              </a:ext>
            </a:extLst>
          </p:cNvPr>
          <p:cNvSpPr>
            <a:spLocks xmlns:a="http://schemas.openxmlformats.org/drawingml/2006/main" noGrp="1"/>
          </p:cNvSpPr>
          <p:nvPr/>
        </p:nvSpPr>
        <p:spPr>
          <a:xfrm xmlns:a="http://schemas.openxmlformats.org/drawingml/2006/main">
            <a:off x="666750" y="809625"/>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375" b="1">
                <a:solidFill>
                  <a:srgbClr val="F6FBFC"/>
                </a:solidFill>
                <a:latin typeface="Arial"/>
                <a:ea typeface="Arial"/>
                <a:cs typeface="Arial"/>
              </a:defRPr>
            </a:defPPr>
          </a:lstStyle>
          <a:p xmlns:a="http://schemas.openxmlformats.org/drawingml/2006/main">
            <a:pPr algn="l">
              <a:defRPr sz="3375" b="1">
                <a:solidFill>
                  <a:srgbClr val="F6FBFC"/>
                </a:solidFill>
                <a:latin typeface="Arial"/>
                <a:ea typeface="Arial"/>
                <a:cs typeface="Arial"/>
              </a:defRPr>
            </a:pPr>
            <a:r>
              <a:rPr sz="3375" b="1">
                <a:solidFill>
                  <a:srgbClr val="F6FBFC"/>
                </a:solidFill>
                <a:latin typeface="Arial"/>
                <a:ea typeface="Arial"/>
                <a:cs typeface="Arial"/>
              </a:rPr>
              <a:t>Practical innovation using basic DBMS ideas</a:t>
            </a:r>
          </a:p>
        </p:txBody>
      </p:sp>
      <p:sp>
        <p:nvSpPr>
          <p:cNvPr id="3" name="">
            <a:extLst xmlns:a="http://schemas.openxmlformats.org/drawingml/2006/main">
              <a:ext uri="{FF2B5EF4-FFF2-40B4-BE49-F238E27FC236}">
                <a16:creationId xmlns:a16="http://schemas.microsoft.com/office/drawing/2014/main" id="{DE25CECD-2C6A-4EC6-B794-92C91A7E7584}"/>
              </a:ext>
            </a:extLst>
          </p:cNvPr>
          <p:cNvSpPr>
            <a:spLocks xmlns:a="http://schemas.openxmlformats.org/drawingml/2006/main" noGrp="1"/>
          </p:cNvSpPr>
          <p:nvPr/>
        </p:nvSpPr>
        <p:spPr>
          <a:xfrm xmlns:a="http://schemas.openxmlformats.org/drawingml/2006/main">
            <a:off x="11049000" y="623887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75" b="0">
                <a:solidFill>
                  <a:srgbClr val="C4D1D9"/>
                </a:solidFill>
                <a:latin typeface="Arial"/>
                <a:ea typeface="Arial"/>
                <a:cs typeface="Arial"/>
              </a:defRPr>
            </a:defPPr>
          </a:lstStyle>
          <a:p xmlns:a="http://schemas.openxmlformats.org/drawingml/2006/main">
            <a:pPr algn="r">
              <a:defRPr sz="1275" b="0">
                <a:solidFill>
                  <a:srgbClr val="C4D1D9"/>
                </a:solidFill>
                <a:latin typeface="Arial"/>
                <a:ea typeface="Arial"/>
                <a:cs typeface="Arial"/>
              </a:defRPr>
            </a:pPr>
            <a:r>
              <a:rPr sz="1275" b="0">
                <a:solidFill>
                  <a:srgbClr val="C4D1D9"/>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DB6807E2-2A53-4E84-9682-C270952E7C54}"/>
              </a:ext>
            </a:extLst>
          </p:cNvPr>
          <p:cNvSpPr>
            <a:spLocks xmlns:a="http://schemas.openxmlformats.org/drawingml/2006/main" noGrp="1"/>
          </p:cNvSpPr>
          <p:nvPr/>
        </p:nvSpPr>
        <p:spPr>
          <a:xfrm xmlns:a="http://schemas.openxmlformats.org/drawingml/2006/main">
            <a:off x="714375" y="1952625"/>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66D6CC"/>
                </a:solidFill>
                <a:latin typeface="Arial"/>
                <a:ea typeface="Arial"/>
                <a:cs typeface="Arial"/>
              </a:defRPr>
            </a:defPPr>
          </a:lstStyle>
          <a:p xmlns:a="http://schemas.openxmlformats.org/drawingml/2006/main">
            <a:pPr algn="l">
              <a:defRPr sz="2700" b="1">
                <a:solidFill>
                  <a:srgbClr val="66D6CC"/>
                </a:solidFill>
                <a:latin typeface="Arial"/>
                <a:ea typeface="Arial"/>
                <a:cs typeface="Arial"/>
              </a:defRPr>
            </a:pPr>
            <a:r>
              <a:rPr sz="2700" b="1">
                <a:solidFill>
                  <a:srgbClr val="66D6CC"/>
                </a:solidFill>
                <a:latin typeface="Arial"/>
                <a:ea typeface="Arial"/>
                <a:cs typeface="Arial"/>
              </a:rPr>
              <a:t>Remaining need = assessed quantity − issued quantity</a:t>
            </a:r>
          </a:p>
        </p:txBody>
      </p:sp>
      <p:sp>
        <p:nvSpPr>
          <p:cNvPr id="5" name="">
            <a:extLst xmlns:a="http://schemas.openxmlformats.org/drawingml/2006/main">
              <a:ext uri="{FF2B5EF4-FFF2-40B4-BE49-F238E27FC236}">
                <a16:creationId xmlns:a16="http://schemas.microsoft.com/office/drawing/2014/main" id="{CE607FBA-D425-4AE4-8116-3CA512F1DBBD}"/>
              </a:ext>
            </a:extLst>
          </p:cNvPr>
          <p:cNvSpPr>
            <a:spLocks xmlns:a="http://schemas.openxmlformats.org/drawingml/2006/main" noGrp="1"/>
          </p:cNvSpPr>
          <p:nvPr/>
        </p:nvSpPr>
        <p:spPr>
          <a:xfrm xmlns:a="http://schemas.openxmlformats.org/drawingml/2006/main">
            <a:off x="714375" y="3143250"/>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950" b="0">
                <a:solidFill>
                  <a:srgbClr val="F6FBFC"/>
                </a:solidFill>
                <a:latin typeface="Arial"/>
                <a:ea typeface="Arial"/>
                <a:cs typeface="Arial"/>
              </a:defRPr>
            </a:defPPr>
          </a:lstStyle>
          <a:p xmlns:a="http://schemas.openxmlformats.org/drawingml/2006/main">
            <a:pPr algn="l">
              <a:defRPr sz="1950" b="0">
                <a:solidFill>
                  <a:srgbClr val="F6FBFC"/>
                </a:solidFill>
                <a:latin typeface="Arial"/>
                <a:ea typeface="Arial"/>
                <a:cs typeface="Arial"/>
              </a:defRPr>
            </a:pPr>
            <a:r>
              <a:rPr sz="1950" b="0">
                <a:solidFill>
                  <a:srgbClr val="F6FBFC"/>
                </a:solidFill>
                <a:latin typeface="Arial"/>
                <a:ea typeface="Arial"/>
                <a:cs typeface="Arial"/>
              </a:rPr>
              <a:t>Queue: HIGH, then MEDIUM, then LOW; oldest first within each level.</a:t>
            </a:r>
          </a:p>
        </p:txBody>
      </p:sp>
      <p:sp>
        <p:nvSpPr>
          <p:cNvPr id="6" name="">
            <a:extLst xmlns:a="http://schemas.openxmlformats.org/drawingml/2006/main">
              <a:ext uri="{FF2B5EF4-FFF2-40B4-BE49-F238E27FC236}">
                <a16:creationId xmlns:a16="http://schemas.microsoft.com/office/drawing/2014/main" id="{C5975045-D3C1-4C7C-9C96-A76ED90AFBD2}"/>
              </a:ext>
            </a:extLst>
          </p:cNvPr>
          <p:cNvSpPr>
            <a:spLocks xmlns:a="http://schemas.openxmlformats.org/drawingml/2006/main" noGrp="1"/>
          </p:cNvSpPr>
          <p:nvPr/>
        </p:nvSpPr>
        <p:spPr>
          <a:xfrm xmlns:a="http://schemas.openxmlformats.org/drawingml/2006/main">
            <a:off x="714375" y="4048125"/>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950" b="0">
                <a:solidFill>
                  <a:srgbClr val="F6FBFC"/>
                </a:solidFill>
                <a:latin typeface="Arial"/>
                <a:ea typeface="Arial"/>
                <a:cs typeface="Arial"/>
              </a:defRPr>
            </a:defPPr>
          </a:lstStyle>
          <a:p xmlns:a="http://schemas.openxmlformats.org/drawingml/2006/main">
            <a:pPr algn="l">
              <a:defRPr sz="1950" b="0">
                <a:solidFill>
                  <a:srgbClr val="F6FBFC"/>
                </a:solidFill>
                <a:latin typeface="Arial"/>
                <a:ea typeface="Arial"/>
                <a:cs typeface="Arial"/>
              </a:defRPr>
            </a:pPr>
            <a:r>
              <a:rPr sz="1950" b="0">
                <a:solidFill>
                  <a:srgbClr val="F6FBFC"/>
                </a:solidFill>
                <a:latin typeface="Arial"/>
                <a:ea typeface="Arial"/>
                <a:cs typeface="Arial"/>
              </a:rPr>
              <a:t>Issue transaction checks need, stock and volunteer assignment.</a:t>
            </a:r>
          </a:p>
        </p:txBody>
      </p:sp>
      <p:sp>
        <p:nvSpPr>
          <p:cNvPr id="7" name="">
            <a:extLst xmlns:a="http://schemas.openxmlformats.org/drawingml/2006/main">
              <a:ext uri="{FF2B5EF4-FFF2-40B4-BE49-F238E27FC236}">
                <a16:creationId xmlns:a16="http://schemas.microsoft.com/office/drawing/2014/main" id="{1F6BED19-8E80-4A4F-8B0E-6D1693D76797}"/>
              </a:ext>
            </a:extLst>
          </p:cNvPr>
          <p:cNvSpPr>
            <a:spLocks xmlns:a="http://schemas.openxmlformats.org/drawingml/2006/main" noGrp="1"/>
          </p:cNvSpPr>
          <p:nvPr/>
        </p:nvSpPr>
        <p:spPr>
          <a:xfrm xmlns:a="http://schemas.openxmlformats.org/drawingml/2006/main">
            <a:off x="714375" y="4953000"/>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950" b="0">
                <a:solidFill>
                  <a:srgbClr val="FFD78A"/>
                </a:solidFill>
                <a:latin typeface="Arial"/>
                <a:ea typeface="Arial"/>
                <a:cs typeface="Arial"/>
              </a:defRPr>
            </a:defPPr>
          </a:lstStyle>
          <a:p xmlns:a="http://schemas.openxmlformats.org/drawingml/2006/main">
            <a:pPr algn="l">
              <a:defRPr sz="1950" b="0">
                <a:solidFill>
                  <a:srgbClr val="FFD78A"/>
                </a:solidFill>
                <a:latin typeface="Arial"/>
                <a:ea typeface="Arial"/>
                <a:cs typeface="Arial"/>
              </a:defRPr>
            </a:pPr>
            <a:r>
              <a:rPr sz="1950" b="0">
                <a:solidFill>
                  <a:srgbClr val="FFD78A"/>
                </a:solidFill>
                <a:latin typeface="Arial"/>
                <a:ea typeface="Arial"/>
                <a:cs typeface="Arial"/>
              </a:rPr>
              <a:t>Receipt and issue movements explain each stock balance.</a:t>
            </a:r>
          </a:p>
        </p:txBody>
      </p:sp>
    </p:spTree>
    <p:extLst>
      <p:ext uri="{BB962C8B-B14F-4D97-AF65-F5344CB8AC3E}">
        <p14:creationId xmlns:p14="http://schemas.microsoft.com/office/powerpoint/2010/main" val="161521699"/>
      </p:ext>
    </p:extLst>
  </p:cSld>
</p:sld>
</file>

<file path=ppt/slides/slide6.xml><?xml version="1.0" encoding="utf-8"?>
<p:sld xmlns:p="http://schemas.openxmlformats.org/presentationml/2006/main">
  <p:cSld>
    <p:bg>
      <p:bgPr>
        <a:solidFill xmlns:a="http://schemas.openxmlformats.org/drawingml/2006/main">
          <a:srgbClr val="0C203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F50E5C5-D77C-4EAA-B6EB-D7235BC73A94}"/>
              </a:ext>
            </a:extLst>
          </p:cNvPr>
          <p:cNvSpPr>
            <a:spLocks xmlns:a="http://schemas.openxmlformats.org/drawingml/2006/main" noGrp="1"/>
          </p:cNvSpPr>
          <p:nvPr/>
        </p:nvSpPr>
        <p:spPr>
          <a:xfrm xmlns:a="http://schemas.openxmlformats.org/drawingml/2006/main">
            <a:off x="666750" y="3810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66D6CC"/>
                </a:solidFill>
                <a:latin typeface="Arial"/>
                <a:ea typeface="Arial"/>
                <a:cs typeface="Arial"/>
              </a:defRPr>
            </a:defPPr>
          </a:lstStyle>
          <a:p xmlns:a="http://schemas.openxmlformats.org/drawingml/2006/main">
            <a:pPr algn="l">
              <a:defRPr sz="1200" b="1">
                <a:solidFill>
                  <a:srgbClr val="66D6CC"/>
                </a:solidFill>
                <a:latin typeface="Arial"/>
                <a:ea typeface="Arial"/>
                <a:cs typeface="Arial"/>
              </a:defRPr>
            </a:pPr>
            <a:r>
              <a:rPr sz="1200" b="1">
                <a:solidFill>
                  <a:srgbClr val="66D6CC"/>
                </a:solidFill>
                <a:latin typeface="Arial"/>
                <a:ea typeface="Arial"/>
                <a:cs typeface="Arial"/>
              </a:rPr>
              <a:t>DBMS PBL  ·  PROJECT 60</a:t>
            </a:r>
          </a:p>
        </p:txBody>
      </p:sp>
      <p:sp>
        <p:nvSpPr>
          <p:cNvPr id="2" name="">
            <a:extLst xmlns:a="http://schemas.openxmlformats.org/drawingml/2006/main">
              <a:ext uri="{FF2B5EF4-FFF2-40B4-BE49-F238E27FC236}">
                <a16:creationId xmlns:a16="http://schemas.microsoft.com/office/drawing/2014/main" id="{3B6D47D8-2D2E-4B99-8140-F485781650F3}"/>
              </a:ext>
            </a:extLst>
          </p:cNvPr>
          <p:cNvSpPr>
            <a:spLocks xmlns:a="http://schemas.openxmlformats.org/drawingml/2006/main" noGrp="1"/>
          </p:cNvSpPr>
          <p:nvPr/>
        </p:nvSpPr>
        <p:spPr>
          <a:xfrm xmlns:a="http://schemas.openxmlformats.org/drawingml/2006/main">
            <a:off x="666750" y="809625"/>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375" b="1">
                <a:solidFill>
                  <a:srgbClr val="F6FBFC"/>
                </a:solidFill>
                <a:latin typeface="Arial"/>
                <a:ea typeface="Arial"/>
                <a:cs typeface="Arial"/>
              </a:defRPr>
            </a:defPPr>
          </a:lstStyle>
          <a:p xmlns:a="http://schemas.openxmlformats.org/drawingml/2006/main">
            <a:pPr algn="l">
              <a:defRPr sz="3375" b="1">
                <a:solidFill>
                  <a:srgbClr val="F6FBFC"/>
                </a:solidFill>
                <a:latin typeface="Arial"/>
                <a:ea typeface="Arial"/>
                <a:cs typeface="Arial"/>
              </a:defRPr>
            </a:pPr>
            <a:r>
              <a:rPr sz="3375" b="1">
                <a:solidFill>
                  <a:srgbClr val="F6FBFC"/>
                </a:solidFill>
                <a:latin typeface="Arial"/>
                <a:ea typeface="Arial"/>
                <a:cs typeface="Arial"/>
              </a:rPr>
              <a:t>Recorded demo: unmet-needs queue</a:t>
            </a:r>
          </a:p>
        </p:txBody>
      </p:sp>
      <p:sp>
        <p:nvSpPr>
          <p:cNvPr id="3" name="">
            <a:extLst xmlns:a="http://schemas.openxmlformats.org/drawingml/2006/main">
              <a:ext uri="{FF2B5EF4-FFF2-40B4-BE49-F238E27FC236}">
                <a16:creationId xmlns:a16="http://schemas.microsoft.com/office/drawing/2014/main" id="{19B6C428-45F7-427E-BFF8-410B4195F9A0}"/>
              </a:ext>
            </a:extLst>
          </p:cNvPr>
          <p:cNvSpPr>
            <a:spLocks xmlns:a="http://schemas.openxmlformats.org/drawingml/2006/main" noGrp="1"/>
          </p:cNvSpPr>
          <p:nvPr/>
        </p:nvSpPr>
        <p:spPr>
          <a:xfrm xmlns:a="http://schemas.openxmlformats.org/drawingml/2006/main">
            <a:off x="11049000" y="623887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75" b="0">
                <a:solidFill>
                  <a:srgbClr val="C4D1D9"/>
                </a:solidFill>
                <a:latin typeface="Arial"/>
                <a:ea typeface="Arial"/>
                <a:cs typeface="Arial"/>
              </a:defRPr>
            </a:defPPr>
          </a:lstStyle>
          <a:p xmlns:a="http://schemas.openxmlformats.org/drawingml/2006/main">
            <a:pPr algn="r">
              <a:defRPr sz="1275" b="0">
                <a:solidFill>
                  <a:srgbClr val="C4D1D9"/>
                </a:solidFill>
                <a:latin typeface="Arial"/>
                <a:ea typeface="Arial"/>
                <a:cs typeface="Arial"/>
              </a:defRPr>
            </a:pPr>
            <a:r>
              <a:rPr sz="1275" b="0">
                <a:solidFill>
                  <a:srgbClr val="C4D1D9"/>
                </a:solidFill>
                <a:latin typeface="Arial"/>
                <a:ea typeface="Arial"/>
                <a:cs typeface="Arial"/>
              </a:rPr>
              <a:t>06</a:t>
            </a:r>
          </a:p>
        </p:txBody>
      </p:sp>
      <p:pic>
        <p:nvPicPr>
          <p:cNvPr id="4" name="">
            <a:extLst xmlns:a="http://schemas.openxmlformats.org/drawingml/2006/main">
              <a:ext uri="{FF2B5EF4-FFF2-40B4-BE49-F238E27FC236}">
                <a16:creationId xmlns:a16="http://schemas.microsoft.com/office/drawing/2014/main" id="{54BDED84-07E7-46E3-99FA-1B8F9F0B8E09}"/>
              </a:ext>
            </a:extLst>
          </p:cNvPr>
          <p:cNvPicPr>
            <a:picLocks xmlns:a="http://schemas.openxmlformats.org/drawingml/2006/main" noChangeAspect="1"/>
          </p:cNvPicPr>
          <p:nvPr/>
        </p:nvPicPr>
        <p:blipFill>
          <a:blip xmlns:r="http://schemas.openxmlformats.org/officeDocument/2006/relationships" xmlns:a="http://schemas.openxmlformats.org/drawingml/2006/main" r:embed="R1c43784e97bd4dec"/>
          <a:stretch xmlns:a="http://schemas.openxmlformats.org/drawingml/2006/main"/>
        </p:blipFill>
        <p:spPr>
          <a:xfrm xmlns:a="http://schemas.openxmlformats.org/drawingml/2006/main">
            <a:off x="1320090" y="1600200"/>
            <a:ext cx="6265696" cy="457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A82915F-2BCF-4D1A-B2C1-85F32134CCC0}"/>
              </a:ext>
            </a:extLst>
          </p:cNvPr>
          <p:cNvSpPr>
            <a:spLocks xmlns:a="http://schemas.openxmlformats.org/drawingml/2006/main" noGrp="1"/>
          </p:cNvSpPr>
          <p:nvPr/>
        </p:nvSpPr>
        <p:spPr>
          <a:xfrm xmlns:a="http://schemas.openxmlformats.org/drawingml/2006/main">
            <a:off x="8429625" y="19050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325" b="1">
                <a:solidFill>
                  <a:srgbClr val="66D6CC"/>
                </a:solidFill>
                <a:latin typeface="Arial"/>
                <a:ea typeface="Arial"/>
                <a:cs typeface="Arial"/>
              </a:defRPr>
            </a:defPPr>
          </a:lstStyle>
          <a:p xmlns:a="http://schemas.openxmlformats.org/drawingml/2006/main">
            <a:pPr algn="l">
              <a:defRPr sz="2325" b="1">
                <a:solidFill>
                  <a:srgbClr val="66D6CC"/>
                </a:solidFill>
                <a:latin typeface="Arial"/>
                <a:ea typeface="Arial"/>
                <a:cs typeface="Arial"/>
              </a:defRPr>
            </a:pPr>
            <a:r>
              <a:rPr sz="2325" b="1">
                <a:solidFill>
                  <a:srgbClr val="66D6CC"/>
                </a:solidFill>
                <a:latin typeface="Arial"/>
                <a:ea typeface="Arial"/>
                <a:cs typeface="Arial"/>
              </a:rPr>
              <a:t>Overview</a:t>
            </a:r>
          </a:p>
        </p:txBody>
      </p:sp>
      <p:sp>
        <p:nvSpPr>
          <p:cNvPr id="6" name="">
            <a:extLst xmlns:a="http://schemas.openxmlformats.org/drawingml/2006/main">
              <a:ext uri="{FF2B5EF4-FFF2-40B4-BE49-F238E27FC236}">
                <a16:creationId xmlns:a16="http://schemas.microsoft.com/office/drawing/2014/main" id="{12CFC18E-3B15-4DC8-96EA-9BB8B8142AC7}"/>
              </a:ext>
            </a:extLst>
          </p:cNvPr>
          <p:cNvSpPr>
            <a:spLocks xmlns:a="http://schemas.openxmlformats.org/drawingml/2006/main" noGrp="1"/>
          </p:cNvSpPr>
          <p:nvPr/>
        </p:nvSpPr>
        <p:spPr>
          <a:xfrm xmlns:a="http://schemas.openxmlformats.org/drawingml/2006/main">
            <a:off x="8429625" y="2619375"/>
            <a:ext cx="3000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75" b="0">
                <a:solidFill>
                  <a:srgbClr val="F6FBFC"/>
                </a:solidFill>
                <a:latin typeface="Arial"/>
                <a:ea typeface="Arial"/>
                <a:cs typeface="Arial"/>
              </a:defRPr>
            </a:defPPr>
          </a:lstStyle>
          <a:p xmlns:a="http://schemas.openxmlformats.org/drawingml/2006/main">
            <a:pPr algn="l">
              <a:defRPr sz="1875" b="0">
                <a:solidFill>
                  <a:srgbClr val="F6FBFC"/>
                </a:solidFill>
                <a:latin typeface="Arial"/>
                <a:ea typeface="Arial"/>
                <a:cs typeface="Arial"/>
              </a:defRPr>
            </a:pPr>
            <a:r>
              <a:rPr sz="1875" b="0">
                <a:solidFill>
                  <a:srgbClr val="F6FBFC"/>
                </a:solidFill>
                <a:latin typeface="Arial"/>
                <a:ea typeface="Arial"/>
                <a:cs typeface="Arial"/>
              </a:rPr>
              <a:t>Camp and family totals</a:t>
            </a:r>
          </a:p>
        </p:txBody>
      </p:sp>
      <p:sp>
        <p:nvSpPr>
          <p:cNvPr id="7" name="">
            <a:extLst xmlns:a="http://schemas.openxmlformats.org/drawingml/2006/main">
              <a:ext uri="{FF2B5EF4-FFF2-40B4-BE49-F238E27FC236}">
                <a16:creationId xmlns:a16="http://schemas.microsoft.com/office/drawing/2014/main" id="{E6A35C6B-0505-4B48-9DB4-C616920589B3}"/>
              </a:ext>
            </a:extLst>
          </p:cNvPr>
          <p:cNvSpPr>
            <a:spLocks xmlns:a="http://schemas.openxmlformats.org/drawingml/2006/main" noGrp="1"/>
          </p:cNvSpPr>
          <p:nvPr/>
        </p:nvSpPr>
        <p:spPr>
          <a:xfrm xmlns:a="http://schemas.openxmlformats.org/drawingml/2006/main">
            <a:off x="8429625" y="3476625"/>
            <a:ext cx="30003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75" b="0">
                <a:solidFill>
                  <a:srgbClr val="F6FBFC"/>
                </a:solidFill>
                <a:latin typeface="Arial"/>
                <a:ea typeface="Arial"/>
                <a:cs typeface="Arial"/>
              </a:defRPr>
            </a:defPPr>
          </a:lstStyle>
          <a:p xmlns:a="http://schemas.openxmlformats.org/drawingml/2006/main">
            <a:pPr algn="l">
              <a:defRPr sz="1875" b="0">
                <a:solidFill>
                  <a:srgbClr val="F6FBFC"/>
                </a:solidFill>
                <a:latin typeface="Arial"/>
                <a:ea typeface="Arial"/>
                <a:cs typeface="Arial"/>
              </a:defRPr>
            </a:pPr>
            <a:r>
              <a:rPr sz="1875" b="0">
                <a:solidFill>
                  <a:srgbClr val="F6FBFC"/>
                </a:solidFill>
                <a:latin typeface="Arial"/>
                <a:ea typeface="Arial"/>
                <a:cs typeface="Arial"/>
              </a:rPr>
              <a:t>Unmet needs sorted by urgency</a:t>
            </a:r>
          </a:p>
        </p:txBody>
      </p:sp>
      <p:sp>
        <p:nvSpPr>
          <p:cNvPr id="8" name="">
            <a:extLst xmlns:a="http://schemas.openxmlformats.org/drawingml/2006/main">
              <a:ext uri="{FF2B5EF4-FFF2-40B4-BE49-F238E27FC236}">
                <a16:creationId xmlns:a16="http://schemas.microsoft.com/office/drawing/2014/main" id="{BF2A6A04-ED51-4306-AA75-E7AA7F67E575}"/>
              </a:ext>
            </a:extLst>
          </p:cNvPr>
          <p:cNvSpPr>
            <a:spLocks xmlns:a="http://schemas.openxmlformats.org/drawingml/2006/main" noGrp="1"/>
          </p:cNvSpPr>
          <p:nvPr/>
        </p:nvSpPr>
        <p:spPr>
          <a:xfrm xmlns:a="http://schemas.openxmlformats.org/drawingml/2006/main">
            <a:off x="8429625" y="4791075"/>
            <a:ext cx="3000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75" b="0">
                <a:solidFill>
                  <a:srgbClr val="FFD78A"/>
                </a:solidFill>
                <a:latin typeface="Arial"/>
                <a:ea typeface="Arial"/>
                <a:cs typeface="Arial"/>
              </a:defRPr>
            </a:defPPr>
          </a:lstStyle>
          <a:p xmlns:a="http://schemas.openxmlformats.org/drawingml/2006/main">
            <a:pPr algn="l">
              <a:defRPr sz="1875" b="0">
                <a:solidFill>
                  <a:srgbClr val="FFD78A"/>
                </a:solidFill>
                <a:latin typeface="Arial"/>
                <a:ea typeface="Arial"/>
                <a:cs typeface="Arial"/>
              </a:defRPr>
            </a:pPr>
            <a:r>
              <a:rPr sz="1875" b="0">
                <a:solidFill>
                  <a:srgbClr val="FFD78A"/>
                </a:solidFill>
                <a:latin typeface="Arial"/>
                <a:ea typeface="Arial"/>
                <a:cs typeface="Arial"/>
              </a:rPr>
              <a:t>Open F-001 for the next step</a:t>
            </a:r>
          </a:p>
        </p:txBody>
      </p:sp>
    </p:spTree>
    <p:extLst>
      <p:ext uri="{BB962C8B-B14F-4D97-AF65-F5344CB8AC3E}">
        <p14:creationId xmlns:p14="http://schemas.microsoft.com/office/powerpoint/2010/main" val="1079605039"/>
      </p:ext>
    </p:extLst>
  </p:cSld>
</p:sld>
</file>

<file path=ppt/slides/slide7.xml><?xml version="1.0" encoding="utf-8"?>
<p:sld xmlns:p="http://schemas.openxmlformats.org/presentationml/2006/main">
  <p:cSld>
    <p:bg>
      <p:bgPr>
        <a:solidFill xmlns:a="http://schemas.openxmlformats.org/drawingml/2006/main">
          <a:srgbClr val="0C203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261145D-BAB3-4A32-A347-F7B2AF122AE3}"/>
              </a:ext>
            </a:extLst>
          </p:cNvPr>
          <p:cNvSpPr>
            <a:spLocks xmlns:a="http://schemas.openxmlformats.org/drawingml/2006/main" noGrp="1"/>
          </p:cNvSpPr>
          <p:nvPr/>
        </p:nvSpPr>
        <p:spPr>
          <a:xfrm xmlns:a="http://schemas.openxmlformats.org/drawingml/2006/main">
            <a:off x="666750" y="3810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66D6CC"/>
                </a:solidFill>
                <a:latin typeface="Arial"/>
                <a:ea typeface="Arial"/>
                <a:cs typeface="Arial"/>
              </a:defRPr>
            </a:defPPr>
          </a:lstStyle>
          <a:p xmlns:a="http://schemas.openxmlformats.org/drawingml/2006/main">
            <a:pPr algn="l">
              <a:defRPr sz="1200" b="1">
                <a:solidFill>
                  <a:srgbClr val="66D6CC"/>
                </a:solidFill>
                <a:latin typeface="Arial"/>
                <a:ea typeface="Arial"/>
                <a:cs typeface="Arial"/>
              </a:defRPr>
            </a:pPr>
            <a:r>
              <a:rPr sz="1200" b="1">
                <a:solidFill>
                  <a:srgbClr val="66D6CC"/>
                </a:solidFill>
                <a:latin typeface="Arial"/>
                <a:ea typeface="Arial"/>
                <a:cs typeface="Arial"/>
              </a:rPr>
              <a:t>DBMS PBL  ·  PROJECT 60</a:t>
            </a:r>
          </a:p>
        </p:txBody>
      </p:sp>
      <p:sp>
        <p:nvSpPr>
          <p:cNvPr id="2" name="">
            <a:extLst xmlns:a="http://schemas.openxmlformats.org/drawingml/2006/main">
              <a:ext uri="{FF2B5EF4-FFF2-40B4-BE49-F238E27FC236}">
                <a16:creationId xmlns:a16="http://schemas.microsoft.com/office/drawing/2014/main" id="{FCB380AD-E29B-46F0-BF88-5FF47F96095D}"/>
              </a:ext>
            </a:extLst>
          </p:cNvPr>
          <p:cNvSpPr>
            <a:spLocks xmlns:a="http://schemas.openxmlformats.org/drawingml/2006/main" noGrp="1"/>
          </p:cNvSpPr>
          <p:nvPr/>
        </p:nvSpPr>
        <p:spPr>
          <a:xfrm xmlns:a="http://schemas.openxmlformats.org/drawingml/2006/main">
            <a:off x="666750" y="809625"/>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375" b="1">
                <a:solidFill>
                  <a:srgbClr val="F6FBFC"/>
                </a:solidFill>
                <a:latin typeface="Arial"/>
                <a:ea typeface="Arial"/>
                <a:cs typeface="Arial"/>
              </a:defRPr>
            </a:defPPr>
          </a:lstStyle>
          <a:p xmlns:a="http://schemas.openxmlformats.org/drawingml/2006/main">
            <a:pPr algn="l">
              <a:defRPr sz="3375" b="1">
                <a:solidFill>
                  <a:srgbClr val="F6FBFC"/>
                </a:solidFill>
                <a:latin typeface="Arial"/>
                <a:ea typeface="Arial"/>
                <a:cs typeface="Arial"/>
              </a:defRPr>
            </a:pPr>
            <a:r>
              <a:rPr sz="3375" b="1">
                <a:solidFill>
                  <a:srgbClr val="F6FBFC"/>
                </a:solidFill>
                <a:latin typeface="Arial"/>
                <a:ea typeface="Arial"/>
                <a:cs typeface="Arial"/>
              </a:rPr>
              <a:t>Recorded demo: issue three water kits</a:t>
            </a:r>
          </a:p>
        </p:txBody>
      </p:sp>
      <p:sp>
        <p:nvSpPr>
          <p:cNvPr id="3" name="">
            <a:extLst xmlns:a="http://schemas.openxmlformats.org/drawingml/2006/main">
              <a:ext uri="{FF2B5EF4-FFF2-40B4-BE49-F238E27FC236}">
                <a16:creationId xmlns:a16="http://schemas.microsoft.com/office/drawing/2014/main" id="{AA70F4A7-509F-4CF4-88F3-7A1A6260937F}"/>
              </a:ext>
            </a:extLst>
          </p:cNvPr>
          <p:cNvSpPr>
            <a:spLocks xmlns:a="http://schemas.openxmlformats.org/drawingml/2006/main" noGrp="1"/>
          </p:cNvSpPr>
          <p:nvPr/>
        </p:nvSpPr>
        <p:spPr>
          <a:xfrm xmlns:a="http://schemas.openxmlformats.org/drawingml/2006/main">
            <a:off x="11049000" y="623887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75" b="0">
                <a:solidFill>
                  <a:srgbClr val="C4D1D9"/>
                </a:solidFill>
                <a:latin typeface="Arial"/>
                <a:ea typeface="Arial"/>
                <a:cs typeface="Arial"/>
              </a:defRPr>
            </a:defPPr>
          </a:lstStyle>
          <a:p xmlns:a="http://schemas.openxmlformats.org/drawingml/2006/main">
            <a:pPr algn="r">
              <a:defRPr sz="1275" b="0">
                <a:solidFill>
                  <a:srgbClr val="C4D1D9"/>
                </a:solidFill>
                <a:latin typeface="Arial"/>
                <a:ea typeface="Arial"/>
                <a:cs typeface="Arial"/>
              </a:defRPr>
            </a:pPr>
            <a:r>
              <a:rPr sz="1275" b="0">
                <a:solidFill>
                  <a:srgbClr val="C4D1D9"/>
                </a:solidFill>
                <a:latin typeface="Arial"/>
                <a:ea typeface="Arial"/>
                <a:cs typeface="Arial"/>
              </a:rPr>
              <a:t>07</a:t>
            </a:r>
          </a:p>
        </p:txBody>
      </p:sp>
      <p:pic>
        <p:nvPicPr>
          <p:cNvPr id="4" name="">
            <a:extLst xmlns:a="http://schemas.openxmlformats.org/drawingml/2006/main">
              <a:ext uri="{FF2B5EF4-FFF2-40B4-BE49-F238E27FC236}">
                <a16:creationId xmlns:a16="http://schemas.microsoft.com/office/drawing/2014/main" id="{5241E5FB-B491-46AC-B099-518C021B2A1F}"/>
              </a:ext>
            </a:extLst>
          </p:cNvPr>
          <p:cNvPicPr>
            <a:picLocks xmlns:a="http://schemas.openxmlformats.org/drawingml/2006/main" noChangeAspect="1"/>
          </p:cNvPicPr>
          <p:nvPr/>
        </p:nvPicPr>
        <p:blipFill>
          <a:blip xmlns:r="http://schemas.openxmlformats.org/officeDocument/2006/relationships" xmlns:a="http://schemas.openxmlformats.org/drawingml/2006/main" r:embed="R33df8f06bf054e03"/>
          <a:stretch xmlns:a="http://schemas.openxmlformats.org/drawingml/2006/main"/>
        </p:blipFill>
        <p:spPr>
          <a:xfrm xmlns:a="http://schemas.openxmlformats.org/drawingml/2006/main">
            <a:off x="1282753" y="1600200"/>
            <a:ext cx="6340368" cy="457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958B542-4A56-4338-B1C8-490B694B78BE}"/>
              </a:ext>
            </a:extLst>
          </p:cNvPr>
          <p:cNvSpPr>
            <a:spLocks xmlns:a="http://schemas.openxmlformats.org/drawingml/2006/main" noGrp="1"/>
          </p:cNvSpPr>
          <p:nvPr/>
        </p:nvSpPr>
        <p:spPr>
          <a:xfrm xmlns:a="http://schemas.openxmlformats.org/drawingml/2006/main">
            <a:off x="8429625" y="2000250"/>
            <a:ext cx="3000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325" b="1">
                <a:solidFill>
                  <a:srgbClr val="66D6CC"/>
                </a:solidFill>
                <a:latin typeface="Arial"/>
                <a:ea typeface="Arial"/>
                <a:cs typeface="Arial"/>
              </a:defRPr>
            </a:defPPr>
          </a:lstStyle>
          <a:p xmlns:a="http://schemas.openxmlformats.org/drawingml/2006/main">
            <a:pPr algn="l">
              <a:defRPr sz="2325" b="1">
                <a:solidFill>
                  <a:srgbClr val="66D6CC"/>
                </a:solidFill>
                <a:latin typeface="Arial"/>
                <a:ea typeface="Arial"/>
                <a:cs typeface="Arial"/>
              </a:defRPr>
            </a:pPr>
            <a:r>
              <a:rPr sz="2325" b="1">
                <a:solidFill>
                  <a:srgbClr val="66D6CC"/>
                </a:solidFill>
                <a:latin typeface="Arial"/>
                <a:ea typeface="Arial"/>
                <a:cs typeface="Arial"/>
              </a:rPr>
              <a:t>F-001 water kits</a:t>
            </a:r>
          </a:p>
        </p:txBody>
      </p:sp>
      <p:sp>
        <p:nvSpPr>
          <p:cNvPr id="6" name="">
            <a:extLst xmlns:a="http://schemas.openxmlformats.org/drawingml/2006/main">
              <a:ext uri="{FF2B5EF4-FFF2-40B4-BE49-F238E27FC236}">
                <a16:creationId xmlns:a16="http://schemas.microsoft.com/office/drawing/2014/main" id="{8270ED06-B5A2-43F4-9313-A406FDB7B2E0}"/>
              </a:ext>
            </a:extLst>
          </p:cNvPr>
          <p:cNvSpPr>
            <a:spLocks xmlns:a="http://schemas.openxmlformats.org/drawingml/2006/main" noGrp="1"/>
          </p:cNvSpPr>
          <p:nvPr/>
        </p:nvSpPr>
        <p:spPr>
          <a:xfrm xmlns:a="http://schemas.openxmlformats.org/drawingml/2006/main">
            <a:off x="8429625" y="2809875"/>
            <a:ext cx="295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1">
                <a:solidFill>
                  <a:srgbClr val="F6FBFC"/>
                </a:solidFill>
                <a:latin typeface="Arial"/>
                <a:ea typeface="Arial"/>
                <a:cs typeface="Arial"/>
              </a:defRPr>
            </a:defPPr>
          </a:lstStyle>
          <a:p xmlns:a="http://schemas.openxmlformats.org/drawingml/2006/main">
            <a:pPr algn="l">
              <a:defRPr sz="2025" b="1">
                <a:solidFill>
                  <a:srgbClr val="F6FBFC"/>
                </a:solidFill>
                <a:latin typeface="Arial"/>
                <a:ea typeface="Arial"/>
                <a:cs typeface="Arial"/>
              </a:defRPr>
            </a:pPr>
            <a:r>
              <a:rPr sz="2025" b="1">
                <a:solidFill>
                  <a:srgbClr val="F6FBFC"/>
                </a:solidFill>
                <a:latin typeface="Arial"/>
                <a:ea typeface="Arial"/>
                <a:cs typeface="Arial"/>
              </a:rPr>
              <a:t>Need: 5 to 2</a:t>
            </a:r>
          </a:p>
        </p:txBody>
      </p:sp>
      <p:sp>
        <p:nvSpPr>
          <p:cNvPr id="7" name="">
            <a:extLst xmlns:a="http://schemas.openxmlformats.org/drawingml/2006/main">
              <a:ext uri="{FF2B5EF4-FFF2-40B4-BE49-F238E27FC236}">
                <a16:creationId xmlns:a16="http://schemas.microsoft.com/office/drawing/2014/main" id="{FC4C111F-6319-4956-A3A1-C1A76046AF07}"/>
              </a:ext>
            </a:extLst>
          </p:cNvPr>
          <p:cNvSpPr>
            <a:spLocks xmlns:a="http://schemas.openxmlformats.org/drawingml/2006/main" noGrp="1"/>
          </p:cNvSpPr>
          <p:nvPr/>
        </p:nvSpPr>
        <p:spPr>
          <a:xfrm xmlns:a="http://schemas.openxmlformats.org/drawingml/2006/main">
            <a:off x="8429625" y="3600450"/>
            <a:ext cx="295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025" b="1">
                <a:solidFill>
                  <a:srgbClr val="F6FBFC"/>
                </a:solidFill>
                <a:latin typeface="Arial"/>
                <a:ea typeface="Arial"/>
                <a:cs typeface="Arial"/>
              </a:defRPr>
            </a:defPPr>
          </a:lstStyle>
          <a:p xmlns:a="http://schemas.openxmlformats.org/drawingml/2006/main">
            <a:pPr algn="l">
              <a:defRPr sz="2025" b="1">
                <a:solidFill>
                  <a:srgbClr val="F6FBFC"/>
                </a:solidFill>
                <a:latin typeface="Arial"/>
                <a:ea typeface="Arial"/>
                <a:cs typeface="Arial"/>
              </a:defRPr>
            </a:pPr>
            <a:r>
              <a:rPr sz="2025" b="1">
                <a:solidFill>
                  <a:srgbClr val="F6FBFC"/>
                </a:solidFill>
                <a:latin typeface="Arial"/>
                <a:ea typeface="Arial"/>
                <a:cs typeface="Arial"/>
              </a:rPr>
              <a:t>Stock: 20 to 17</a:t>
            </a:r>
          </a:p>
        </p:txBody>
      </p:sp>
      <p:sp>
        <p:nvSpPr>
          <p:cNvPr id="8" name="">
            <a:extLst xmlns:a="http://schemas.openxmlformats.org/drawingml/2006/main">
              <a:ext uri="{FF2B5EF4-FFF2-40B4-BE49-F238E27FC236}">
                <a16:creationId xmlns:a16="http://schemas.microsoft.com/office/drawing/2014/main" id="{CFBE654B-8B1B-40F9-9007-3744511AB0DD}"/>
              </a:ext>
            </a:extLst>
          </p:cNvPr>
          <p:cNvSpPr>
            <a:spLocks xmlns:a="http://schemas.openxmlformats.org/drawingml/2006/main" noGrp="1"/>
          </p:cNvSpPr>
          <p:nvPr/>
        </p:nvSpPr>
        <p:spPr>
          <a:xfrm xmlns:a="http://schemas.openxmlformats.org/drawingml/2006/main">
            <a:off x="8429625" y="4619625"/>
            <a:ext cx="3000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75" b="1">
                <a:solidFill>
                  <a:srgbClr val="FFD78A"/>
                </a:solidFill>
                <a:latin typeface="Arial"/>
                <a:ea typeface="Arial"/>
                <a:cs typeface="Arial"/>
              </a:defRPr>
            </a:defPPr>
          </a:lstStyle>
          <a:p xmlns:a="http://schemas.openxmlformats.org/drawingml/2006/main">
            <a:pPr algn="l">
              <a:defRPr sz="1875" b="1">
                <a:solidFill>
                  <a:srgbClr val="FFD78A"/>
                </a:solidFill>
                <a:latin typeface="Arial"/>
                <a:ea typeface="Arial"/>
                <a:cs typeface="Arial"/>
              </a:defRPr>
            </a:pPr>
            <a:r>
              <a:rPr sz="1875" b="1">
                <a:solidFill>
                  <a:srgbClr val="FFD78A"/>
                </a:solidFill>
                <a:latin typeface="Arial"/>
                <a:ea typeface="Arial"/>
                <a:cs typeface="Arial"/>
              </a:rPr>
              <a:t>Excess issue is rejected</a:t>
            </a:r>
          </a:p>
        </p:txBody>
      </p:sp>
    </p:spTree>
    <p:extLst>
      <p:ext uri="{BB962C8B-B14F-4D97-AF65-F5344CB8AC3E}">
        <p14:creationId xmlns:p14="http://schemas.microsoft.com/office/powerpoint/2010/main" val="583378902"/>
      </p:ext>
    </p:extLst>
  </p:cSld>
</p:sld>
</file>

<file path=ppt/slides/slide8.xml><?xml version="1.0" encoding="utf-8"?>
<p:sld xmlns:p="http://schemas.openxmlformats.org/presentationml/2006/main">
  <p:cSld>
    <p:bg>
      <p:bgPr>
        <a:solidFill xmlns:a="http://schemas.openxmlformats.org/drawingml/2006/main">
          <a:srgbClr val="0C203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9453ECB-22BF-4896-95BA-286E07F377DD}"/>
              </a:ext>
            </a:extLst>
          </p:cNvPr>
          <p:cNvSpPr>
            <a:spLocks xmlns:a="http://schemas.openxmlformats.org/drawingml/2006/main" noGrp="1"/>
          </p:cNvSpPr>
          <p:nvPr/>
        </p:nvSpPr>
        <p:spPr>
          <a:xfrm xmlns:a="http://schemas.openxmlformats.org/drawingml/2006/main">
            <a:off x="666750" y="3810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66D6CC"/>
                </a:solidFill>
                <a:latin typeface="Arial"/>
                <a:ea typeface="Arial"/>
                <a:cs typeface="Arial"/>
              </a:defRPr>
            </a:defPPr>
          </a:lstStyle>
          <a:p xmlns:a="http://schemas.openxmlformats.org/drawingml/2006/main">
            <a:pPr algn="l">
              <a:defRPr sz="1200" b="1">
                <a:solidFill>
                  <a:srgbClr val="66D6CC"/>
                </a:solidFill>
                <a:latin typeface="Arial"/>
                <a:ea typeface="Arial"/>
                <a:cs typeface="Arial"/>
              </a:defRPr>
            </a:pPr>
            <a:r>
              <a:rPr sz="1200" b="1">
                <a:solidFill>
                  <a:srgbClr val="66D6CC"/>
                </a:solidFill>
                <a:latin typeface="Arial"/>
                <a:ea typeface="Arial"/>
                <a:cs typeface="Arial"/>
              </a:rPr>
              <a:t>DBMS PBL  ·  PROJECT 60</a:t>
            </a:r>
          </a:p>
        </p:txBody>
      </p:sp>
      <p:sp>
        <p:nvSpPr>
          <p:cNvPr id="2" name="">
            <a:extLst xmlns:a="http://schemas.openxmlformats.org/drawingml/2006/main">
              <a:ext uri="{FF2B5EF4-FFF2-40B4-BE49-F238E27FC236}">
                <a16:creationId xmlns:a16="http://schemas.microsoft.com/office/drawing/2014/main" id="{53F6EDF5-4199-417B-8B17-CF0BA327AF70}"/>
              </a:ext>
            </a:extLst>
          </p:cNvPr>
          <p:cNvSpPr>
            <a:spLocks xmlns:a="http://schemas.openxmlformats.org/drawingml/2006/main" noGrp="1"/>
          </p:cNvSpPr>
          <p:nvPr/>
        </p:nvSpPr>
        <p:spPr>
          <a:xfrm xmlns:a="http://schemas.openxmlformats.org/drawingml/2006/main">
            <a:off x="666750" y="809625"/>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375" b="1">
                <a:solidFill>
                  <a:srgbClr val="F6FBFC"/>
                </a:solidFill>
                <a:latin typeface="Arial"/>
                <a:ea typeface="Arial"/>
                <a:cs typeface="Arial"/>
              </a:defRPr>
            </a:defPPr>
          </a:lstStyle>
          <a:p xmlns:a="http://schemas.openxmlformats.org/drawingml/2006/main">
            <a:pPr algn="l">
              <a:defRPr sz="3375" b="1">
                <a:solidFill>
                  <a:srgbClr val="F6FBFC"/>
                </a:solidFill>
                <a:latin typeface="Arial"/>
                <a:ea typeface="Arial"/>
                <a:cs typeface="Arial"/>
              </a:defRPr>
            </a:pPr>
            <a:r>
              <a:rPr sz="3375" b="1">
                <a:solidFill>
                  <a:srgbClr val="F6FBFC"/>
                </a:solidFill>
                <a:latin typeface="Arial"/>
                <a:ea typeface="Arial"/>
                <a:cs typeface="Arial"/>
              </a:rPr>
              <a:t>Verified reports after the issue</a:t>
            </a:r>
          </a:p>
        </p:txBody>
      </p:sp>
      <p:sp>
        <p:nvSpPr>
          <p:cNvPr id="3" name="">
            <a:extLst xmlns:a="http://schemas.openxmlformats.org/drawingml/2006/main">
              <a:ext uri="{FF2B5EF4-FFF2-40B4-BE49-F238E27FC236}">
                <a16:creationId xmlns:a16="http://schemas.microsoft.com/office/drawing/2014/main" id="{350EB441-64B9-44B6-96FA-750C52844B45}"/>
              </a:ext>
            </a:extLst>
          </p:cNvPr>
          <p:cNvSpPr>
            <a:spLocks xmlns:a="http://schemas.openxmlformats.org/drawingml/2006/main" noGrp="1"/>
          </p:cNvSpPr>
          <p:nvPr/>
        </p:nvSpPr>
        <p:spPr>
          <a:xfrm xmlns:a="http://schemas.openxmlformats.org/drawingml/2006/main">
            <a:off x="11049000" y="623887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75" b="0">
                <a:solidFill>
                  <a:srgbClr val="C4D1D9"/>
                </a:solidFill>
                <a:latin typeface="Arial"/>
                <a:ea typeface="Arial"/>
                <a:cs typeface="Arial"/>
              </a:defRPr>
            </a:defPPr>
          </a:lstStyle>
          <a:p xmlns:a="http://schemas.openxmlformats.org/drawingml/2006/main">
            <a:pPr algn="r">
              <a:defRPr sz="1275" b="0">
                <a:solidFill>
                  <a:srgbClr val="C4D1D9"/>
                </a:solidFill>
                <a:latin typeface="Arial"/>
                <a:ea typeface="Arial"/>
                <a:cs typeface="Arial"/>
              </a:defRPr>
            </a:pPr>
            <a:r>
              <a:rPr sz="1275" b="0">
                <a:solidFill>
                  <a:srgbClr val="C4D1D9"/>
                </a:solidFill>
                <a:latin typeface="Arial"/>
                <a:ea typeface="Arial"/>
                <a:cs typeface="Arial"/>
              </a:rPr>
              <a:t>08</a:t>
            </a:r>
          </a:p>
        </p:txBody>
      </p:sp>
      <p:pic>
        <p:nvPicPr>
          <p:cNvPr id="4" name="">
            <a:extLst xmlns:a="http://schemas.openxmlformats.org/drawingml/2006/main">
              <a:ext uri="{FF2B5EF4-FFF2-40B4-BE49-F238E27FC236}">
                <a16:creationId xmlns:a16="http://schemas.microsoft.com/office/drawing/2014/main" id="{C385BF84-5E4D-42EF-A9D8-616598192223}"/>
              </a:ext>
            </a:extLst>
          </p:cNvPr>
          <p:cNvPicPr>
            <a:picLocks xmlns:a="http://schemas.openxmlformats.org/drawingml/2006/main" noChangeAspect="1"/>
          </p:cNvPicPr>
          <p:nvPr/>
        </p:nvPicPr>
        <p:blipFill>
          <a:blip xmlns:r="http://schemas.openxmlformats.org/officeDocument/2006/relationships" xmlns:a="http://schemas.openxmlformats.org/drawingml/2006/main" r:embed="Radc8e11211ca4145"/>
          <a:srcRect xmlns:a="http://schemas.openxmlformats.org/drawingml/2006/main" l="0" t="20000" r="0" b="52000"/>
          <a:stretch xmlns:a="http://schemas.openxmlformats.org/drawingml/2006/main"/>
        </p:blipFill>
        <p:spPr>
          <a:xfrm xmlns:a="http://schemas.openxmlformats.org/drawingml/2006/main">
            <a:off x="685800" y="1666875"/>
            <a:ext cx="10810875" cy="4143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12D43B5-F93A-4102-A13E-45512A3D9B3F}"/>
              </a:ext>
            </a:extLst>
          </p:cNvPr>
          <p:cNvSpPr>
            <a:spLocks xmlns:a="http://schemas.openxmlformats.org/drawingml/2006/main" noGrp="1"/>
          </p:cNvSpPr>
          <p:nvPr/>
        </p:nvSpPr>
        <p:spPr>
          <a:xfrm xmlns:a="http://schemas.openxmlformats.org/drawingml/2006/main">
            <a:off x="714375" y="5953125"/>
            <a:ext cx="1028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FFD78A"/>
                </a:solidFill>
                <a:latin typeface="Arial"/>
                <a:ea typeface="Arial"/>
                <a:cs typeface="Arial"/>
              </a:defRPr>
            </a:defPPr>
          </a:lstStyle>
          <a:p xmlns:a="http://schemas.openxmlformats.org/drawingml/2006/main">
            <a:pPr algn="l">
              <a:defRPr sz="1650" b="1">
                <a:solidFill>
                  <a:srgbClr val="FFD78A"/>
                </a:solidFill>
                <a:latin typeface="Arial"/>
                <a:ea typeface="Arial"/>
                <a:cs typeface="Arial"/>
              </a:defRPr>
            </a:pPr>
            <a:r>
              <a:rPr sz="1650" b="1">
                <a:solidFill>
                  <a:srgbClr val="FFD78A"/>
                </a:solidFill>
                <a:latin typeface="Arial"/>
                <a:ea typeface="Arial"/>
                <a:cs typeface="Arial"/>
              </a:rPr>
              <a:t>F-001: 2 needed   ·   Store: 17 water kits</a:t>
            </a:r>
          </a:p>
        </p:txBody>
      </p:sp>
    </p:spTree>
    <p:extLst>
      <p:ext uri="{BB962C8B-B14F-4D97-AF65-F5344CB8AC3E}">
        <p14:creationId xmlns:p14="http://schemas.microsoft.com/office/powerpoint/2010/main" val="1671481345"/>
      </p:ext>
    </p:extLst>
  </p:cSld>
</p:sld>
</file>

<file path=ppt/slides/slide9.xml><?xml version="1.0" encoding="utf-8"?>
<p:sld xmlns:p="http://schemas.openxmlformats.org/presentationml/2006/main">
  <p:cSld>
    <p:bg>
      <p:bgPr>
        <a:solidFill xmlns:a="http://schemas.openxmlformats.org/drawingml/2006/main">
          <a:srgbClr val="0C203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DE318CE-BD20-4498-BF6F-F009B4484C13}"/>
              </a:ext>
            </a:extLst>
          </p:cNvPr>
          <p:cNvSpPr>
            <a:spLocks xmlns:a="http://schemas.openxmlformats.org/drawingml/2006/main" noGrp="1"/>
          </p:cNvSpPr>
          <p:nvPr/>
        </p:nvSpPr>
        <p:spPr>
          <a:xfrm xmlns:a="http://schemas.openxmlformats.org/drawingml/2006/main">
            <a:off x="666750" y="3810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66D6CC"/>
                </a:solidFill>
                <a:latin typeface="Arial"/>
                <a:ea typeface="Arial"/>
                <a:cs typeface="Arial"/>
              </a:defRPr>
            </a:defPPr>
          </a:lstStyle>
          <a:p xmlns:a="http://schemas.openxmlformats.org/drawingml/2006/main">
            <a:pPr algn="l">
              <a:defRPr sz="1200" b="1">
                <a:solidFill>
                  <a:srgbClr val="66D6CC"/>
                </a:solidFill>
                <a:latin typeface="Arial"/>
                <a:ea typeface="Arial"/>
                <a:cs typeface="Arial"/>
              </a:defRPr>
            </a:pPr>
            <a:r>
              <a:rPr sz="1200" b="1">
                <a:solidFill>
                  <a:srgbClr val="66D6CC"/>
                </a:solidFill>
                <a:latin typeface="Arial"/>
                <a:ea typeface="Arial"/>
                <a:cs typeface="Arial"/>
              </a:rPr>
              <a:t>DBMS PBL  ·  PROJECT 60</a:t>
            </a:r>
          </a:p>
        </p:txBody>
      </p:sp>
      <p:sp>
        <p:nvSpPr>
          <p:cNvPr id="2" name="">
            <a:extLst xmlns:a="http://schemas.openxmlformats.org/drawingml/2006/main">
              <a:ext uri="{FF2B5EF4-FFF2-40B4-BE49-F238E27FC236}">
                <a16:creationId xmlns:a16="http://schemas.microsoft.com/office/drawing/2014/main" id="{8D384384-271C-4E9F-8E10-0DCA84938320}"/>
              </a:ext>
            </a:extLst>
          </p:cNvPr>
          <p:cNvSpPr>
            <a:spLocks xmlns:a="http://schemas.openxmlformats.org/drawingml/2006/main" noGrp="1"/>
          </p:cNvSpPr>
          <p:nvPr/>
        </p:nvSpPr>
        <p:spPr>
          <a:xfrm xmlns:a="http://schemas.openxmlformats.org/drawingml/2006/main">
            <a:off x="666750" y="809625"/>
            <a:ext cx="10763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375" b="1">
                <a:solidFill>
                  <a:srgbClr val="F6FBFC"/>
                </a:solidFill>
                <a:latin typeface="Arial"/>
                <a:ea typeface="Arial"/>
                <a:cs typeface="Arial"/>
              </a:defRPr>
            </a:defPPr>
          </a:lstStyle>
          <a:p xmlns:a="http://schemas.openxmlformats.org/drawingml/2006/main">
            <a:pPr algn="l">
              <a:defRPr sz="3375" b="1">
                <a:solidFill>
                  <a:srgbClr val="F6FBFC"/>
                </a:solidFill>
                <a:latin typeface="Arial"/>
                <a:ea typeface="Arial"/>
                <a:cs typeface="Arial"/>
              </a:defRPr>
            </a:pPr>
            <a:r>
              <a:rPr sz="3375" b="1">
                <a:solidFill>
                  <a:srgbClr val="F6FBFC"/>
                </a:solidFill>
                <a:latin typeface="Arial"/>
                <a:ea typeface="Arial"/>
                <a:cs typeface="Arial"/>
              </a:rPr>
              <a:t>What the project demonstrates</a:t>
            </a:r>
          </a:p>
        </p:txBody>
      </p:sp>
      <p:sp>
        <p:nvSpPr>
          <p:cNvPr id="3" name="">
            <a:extLst xmlns:a="http://schemas.openxmlformats.org/drawingml/2006/main">
              <a:ext uri="{FF2B5EF4-FFF2-40B4-BE49-F238E27FC236}">
                <a16:creationId xmlns:a16="http://schemas.microsoft.com/office/drawing/2014/main" id="{52E0C98C-3554-4137-A89A-8CCE35A95F42}"/>
              </a:ext>
            </a:extLst>
          </p:cNvPr>
          <p:cNvSpPr>
            <a:spLocks xmlns:a="http://schemas.openxmlformats.org/drawingml/2006/main" noGrp="1"/>
          </p:cNvSpPr>
          <p:nvPr/>
        </p:nvSpPr>
        <p:spPr>
          <a:xfrm xmlns:a="http://schemas.openxmlformats.org/drawingml/2006/main">
            <a:off x="11049000" y="6238875"/>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75" b="0">
                <a:solidFill>
                  <a:srgbClr val="C4D1D9"/>
                </a:solidFill>
                <a:latin typeface="Arial"/>
                <a:ea typeface="Arial"/>
                <a:cs typeface="Arial"/>
              </a:defRPr>
            </a:defPPr>
          </a:lstStyle>
          <a:p xmlns:a="http://schemas.openxmlformats.org/drawingml/2006/main">
            <a:pPr algn="r">
              <a:defRPr sz="1275" b="0">
                <a:solidFill>
                  <a:srgbClr val="C4D1D9"/>
                </a:solidFill>
                <a:latin typeface="Arial"/>
                <a:ea typeface="Arial"/>
                <a:cs typeface="Arial"/>
              </a:defRPr>
            </a:pPr>
            <a:r>
              <a:rPr sz="1275" b="0">
                <a:solidFill>
                  <a:srgbClr val="C4D1D9"/>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060439E7-FF1F-4B59-8F13-0196D33D02B8}"/>
              </a:ext>
            </a:extLst>
          </p:cNvPr>
          <p:cNvSpPr>
            <a:spLocks xmlns:a="http://schemas.openxmlformats.org/drawingml/2006/main" noGrp="1"/>
          </p:cNvSpPr>
          <p:nvPr/>
        </p:nvSpPr>
        <p:spPr>
          <a:xfrm xmlns:a="http://schemas.openxmlformats.org/drawingml/2006/main">
            <a:off x="714375" y="1857375"/>
            <a:ext cx="10287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225" b="1">
                <a:solidFill>
                  <a:srgbClr val="66D6CC"/>
                </a:solidFill>
                <a:latin typeface="Arial"/>
                <a:ea typeface="Arial"/>
                <a:cs typeface="Arial"/>
              </a:defRPr>
            </a:defPPr>
          </a:lstStyle>
          <a:p xmlns:a="http://schemas.openxmlformats.org/drawingml/2006/main">
            <a:pPr algn="l">
              <a:defRPr sz="3225" b="1">
                <a:solidFill>
                  <a:srgbClr val="66D6CC"/>
                </a:solidFill>
                <a:latin typeface="Arial"/>
                <a:ea typeface="Arial"/>
                <a:cs typeface="Arial"/>
              </a:defRPr>
            </a:pPr>
            <a:r>
              <a:rPr sz="3225" b="1">
                <a:solidFill>
                  <a:srgbClr val="66D6CC"/>
                </a:solidFill>
                <a:latin typeface="Arial"/>
                <a:ea typeface="Arial"/>
                <a:cs typeface="Arial"/>
              </a:rPr>
              <a:t>8 MySQL integration tests passed</a:t>
            </a:r>
          </a:p>
        </p:txBody>
      </p:sp>
      <p:sp>
        <p:nvSpPr>
          <p:cNvPr id="5" name="">
            <a:extLst xmlns:a="http://schemas.openxmlformats.org/drawingml/2006/main">
              <a:ext uri="{FF2B5EF4-FFF2-40B4-BE49-F238E27FC236}">
                <a16:creationId xmlns:a16="http://schemas.microsoft.com/office/drawing/2014/main" id="{3A394667-4B23-422E-BE88-AAB5D1DBF662}"/>
              </a:ext>
            </a:extLst>
          </p:cNvPr>
          <p:cNvSpPr>
            <a:spLocks xmlns:a="http://schemas.openxmlformats.org/drawingml/2006/main" noGrp="1"/>
          </p:cNvSpPr>
          <p:nvPr/>
        </p:nvSpPr>
        <p:spPr>
          <a:xfrm xmlns:a="http://schemas.openxmlformats.org/drawingml/2006/main">
            <a:off x="714375" y="3095625"/>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75" b="0">
                <a:solidFill>
                  <a:srgbClr val="F6FBFC"/>
                </a:solidFill>
                <a:latin typeface="Arial"/>
                <a:ea typeface="Arial"/>
                <a:cs typeface="Arial"/>
              </a:defRPr>
            </a:defPPr>
          </a:lstStyle>
          <a:p xmlns:a="http://schemas.openxmlformats.org/drawingml/2006/main">
            <a:pPr algn="l">
              <a:defRPr sz="2175" b="0">
                <a:solidFill>
                  <a:srgbClr val="F6FBFC"/>
                </a:solidFill>
                <a:latin typeface="Arial"/>
                <a:ea typeface="Arial"/>
                <a:cs typeface="Arial"/>
              </a:defRPr>
            </a:pPr>
            <a:r>
              <a:rPr sz="2175" b="0">
                <a:solidFill>
                  <a:srgbClr val="F6FBFC"/>
                </a:solidFill>
                <a:latin typeface="Arial"/>
                <a:ea typeface="Arial"/>
                <a:cs typeface="Arial"/>
              </a:rPr>
              <a:t>Duplicate and excess issues are rejected.</a:t>
            </a:r>
          </a:p>
        </p:txBody>
      </p:sp>
      <p:sp>
        <p:nvSpPr>
          <p:cNvPr id="6" name="">
            <a:extLst xmlns:a="http://schemas.openxmlformats.org/drawingml/2006/main">
              <a:ext uri="{FF2B5EF4-FFF2-40B4-BE49-F238E27FC236}">
                <a16:creationId xmlns:a16="http://schemas.microsoft.com/office/drawing/2014/main" id="{89F39E19-D12E-461B-B66C-3D0B4B81B1EE}"/>
              </a:ext>
            </a:extLst>
          </p:cNvPr>
          <p:cNvSpPr>
            <a:spLocks xmlns:a="http://schemas.openxmlformats.org/drawingml/2006/main" noGrp="1"/>
          </p:cNvSpPr>
          <p:nvPr/>
        </p:nvSpPr>
        <p:spPr>
          <a:xfrm xmlns:a="http://schemas.openxmlformats.org/drawingml/2006/main">
            <a:off x="714375" y="4048125"/>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75" b="0">
                <a:solidFill>
                  <a:srgbClr val="F6FBFC"/>
                </a:solidFill>
                <a:latin typeface="Arial"/>
                <a:ea typeface="Arial"/>
                <a:cs typeface="Arial"/>
              </a:defRPr>
            </a:defPPr>
          </a:lstStyle>
          <a:p xmlns:a="http://schemas.openxmlformats.org/drawingml/2006/main">
            <a:pPr algn="l">
              <a:defRPr sz="2175" b="0">
                <a:solidFill>
                  <a:srgbClr val="F6FBFC"/>
                </a:solidFill>
                <a:latin typeface="Arial"/>
                <a:ea typeface="Arial"/>
                <a:cs typeface="Arial"/>
              </a:defRPr>
            </a:pPr>
            <a:r>
              <a:rPr sz="2175" b="0">
                <a:solidFill>
                  <a:srgbClr val="F6FBFC"/>
                </a:solidFill>
                <a:latin typeface="Arial"/>
                <a:ea typeface="Arial"/>
                <a:cs typeface="Arial"/>
              </a:rPr>
              <a:t>Stock reconciles with the movement history.</a:t>
            </a:r>
          </a:p>
        </p:txBody>
      </p:sp>
      <p:sp>
        <p:nvSpPr>
          <p:cNvPr id="7" name="">
            <a:extLst xmlns:a="http://schemas.openxmlformats.org/drawingml/2006/main">
              <a:ext uri="{FF2B5EF4-FFF2-40B4-BE49-F238E27FC236}">
                <a16:creationId xmlns:a16="http://schemas.microsoft.com/office/drawing/2014/main" id="{A4BA3296-83F6-44F2-83AA-3E6481EC6C7D}"/>
              </a:ext>
            </a:extLst>
          </p:cNvPr>
          <p:cNvSpPr>
            <a:spLocks xmlns:a="http://schemas.openxmlformats.org/drawingml/2006/main" noGrp="1"/>
          </p:cNvSpPr>
          <p:nvPr/>
        </p:nvSpPr>
        <p:spPr>
          <a:xfrm xmlns:a="http://schemas.openxmlformats.org/drawingml/2006/main">
            <a:off x="714375" y="5000625"/>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75" b="0">
                <a:solidFill>
                  <a:srgbClr val="C4D1D9"/>
                </a:solidFill>
                <a:latin typeface="Arial"/>
                <a:ea typeface="Arial"/>
                <a:cs typeface="Arial"/>
              </a:defRPr>
            </a:defPPr>
          </a:lstStyle>
          <a:p xmlns:a="http://schemas.openxmlformats.org/drawingml/2006/main">
            <a:pPr algn="l">
              <a:defRPr sz="1875" b="0">
                <a:solidFill>
                  <a:srgbClr val="C4D1D9"/>
                </a:solidFill>
                <a:latin typeface="Arial"/>
                <a:ea typeface="Arial"/>
                <a:cs typeface="Arial"/>
              </a:defRPr>
            </a:pPr>
            <a:r>
              <a:rPr sz="1875" b="0">
                <a:solidFill>
                  <a:srgbClr val="C4D1D9"/>
                </a:solidFill>
                <a:latin typeface="Arial"/>
                <a:ea typeface="Arial"/>
                <a:cs typeface="Arial"/>
              </a:rPr>
              <a:t>The app uses fictional data on a local computer.</a:t>
            </a:r>
          </a:p>
        </p:txBody>
      </p:sp>
    </p:spTree>
    <p:extLst>
      <p:ext uri="{BB962C8B-B14F-4D97-AF65-F5344CB8AC3E}">
        <p14:creationId xmlns:p14="http://schemas.microsoft.com/office/powerpoint/2010/main" val="19185552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2026-10-12T08:13:46.7710000Z</dcterms:created>
  <dcterms:modified xsi:type="dcterms:W3CDTF">2026-10-12T08:13:46.7710000Z</dcterms:modified>
</coreProperties>
</file>